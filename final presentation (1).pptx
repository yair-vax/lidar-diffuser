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4" r:id="rId3"/>
    <p:sldId id="285" r:id="rId4"/>
    <p:sldId id="286" r:id="rId5"/>
    <p:sldId id="289" r:id="rId6"/>
    <p:sldId id="319" r:id="rId7"/>
    <p:sldId id="311" r:id="rId8"/>
    <p:sldId id="291" r:id="rId9"/>
    <p:sldId id="315" r:id="rId10"/>
    <p:sldId id="317" r:id="rId11"/>
    <p:sldId id="328" r:id="rId12"/>
    <p:sldId id="307" r:id="rId13"/>
    <p:sldId id="313" r:id="rId14"/>
    <p:sldId id="294" r:id="rId15"/>
    <p:sldId id="295" r:id="rId16"/>
    <p:sldId id="296" r:id="rId17"/>
    <p:sldId id="298" r:id="rId18"/>
    <p:sldId id="299" r:id="rId19"/>
    <p:sldId id="300" r:id="rId20"/>
    <p:sldId id="322" r:id="rId21"/>
    <p:sldId id="303" r:id="rId22"/>
    <p:sldId id="304" r:id="rId23"/>
    <p:sldId id="305" r:id="rId24"/>
    <p:sldId id="332" r:id="rId25"/>
    <p:sldId id="331" r:id="rId26"/>
    <p:sldId id="30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1B1B27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8"/>
          </a:solidFill>
        </a:fill>
      </a:tcStyle>
    </a:wholeTbl>
    <a:band1H>
      <a:tcStyle>
        <a:tcBdr/>
        <a:fill>
          <a:solidFill>
            <a:srgbClr val="CCCCC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CCCD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B1B27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B1B27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B1B27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B1B27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1620F-C9C6-4D85-BBE4-71E0F39CBB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842D2-AB40-4DE2-BEC4-12240E0A4A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67240-A7B4-45D9-B6E0-E0A508C9F22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CBE773-264A-44D2-AFFE-64BFA2476B9F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1FE2C-450A-4F7D-A1DB-3CE90EFBABA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8B61A-EC58-48FC-AD5B-B34C141BD3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925323-255B-40F8-80D3-BA428DA58C2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6204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2DF16-C733-4507-857B-3468C51E560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A6F95-0083-4A2E-A895-C2E383F3A8B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5F14D-20EB-4DB8-881B-2B2BF3BE30E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19F980-28AD-49EF-B0EB-EDF57786B2C2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D52EE-D447-4B92-BF4A-57A5FF91FB7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67306-A030-49D6-85F3-22632F84E7C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A42C17-A602-4AF7-801F-C536B8785C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89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DDF5-30B6-492F-80C5-733DE695F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F5541-F2D7-41FD-B9B0-95FC7EE00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ACC46-555A-4420-AF6A-2AEDB894F3C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62D6E1-8B93-4796-8AAE-26FEDA379182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64457-DD5D-478A-B21A-728AF324166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AA672-63EE-40D7-890A-59879424CE3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74B737-DF6F-4D64-AF1C-B487D520B8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326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9138-C2F9-4B6B-B94E-EB857AF31E8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3E475-D446-4765-B4AA-281FB8CA0EB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E0364-3793-46BC-85FE-507C2964281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C2F8F-3D54-46FB-B3E9-5C05EC28E91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3B6AEEB-4031-4BCF-A2C8-4D48E52D32F9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CE1D0-0AEB-43D5-9CB8-8F7534A4A87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1B41D-EDC5-44DF-A9E3-E96718C9DBF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B6DF61-B6DD-4048-9931-357DD85419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2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946B9-78AD-45CF-BBF2-BC9ACC98E6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2FBC2-E25D-4EB3-B30B-CACC3BDEC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910C3-F0D3-4BC8-BA4E-BF89D30D3DE4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0570A-5ABD-4E91-AF61-F02CE001B79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7E4DA-00BC-4F2E-AF48-D4577999F372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396C93-AE7D-4B4A-9B4C-EDB832D87DF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EEA17C9-5DB9-411B-ABF9-128ECB2D5A84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1CEF7-64F4-45DC-A715-3A8B679A678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C07737-D71C-4234-8BAA-C658ACFB1BA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F1ADEFE-B596-4FE6-9CF6-73653432E9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65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21EA5-28A2-487A-A82B-64EFB9E186A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338AE-C466-4DBB-B363-E1CA6D73F1D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1E74BE7-40F6-4F0B-89EB-057D8895C2C2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49C7F-F648-4274-B26F-D7E44DFE579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44AB1-E214-4545-80C6-91A41A9C931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FCAE55-5135-4AA7-AA71-74FB0D0758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61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D99B0-203C-4D77-A877-C28566E3E05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CA4C3D-6E40-4BAA-A501-45012E35F7CA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1BA73C-BB76-4786-8A1A-B6120028FF9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F105C-6C4A-4898-ACD5-554AFA9BA7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8016B0-FF08-4988-94B1-568A412A1C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1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9FC6-1E9D-4D25-8486-88C89068F7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4BDCA-22DD-4C57-88D0-0B6B2E1BC03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7CB54-3A62-4021-9853-BC8DB2559FE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F08E6-6F65-403B-81F3-27C5F2AC755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7DCB78-CE16-4E3D-979B-C97838DEB423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CDB31-CC42-40A6-BAB3-B7CC9977605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E12DE-CB1C-4E78-A92E-231BA3F0F1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4DE4CAF-8EAE-416A-A064-E35A586A58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2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8FA81-3D5E-4E78-BAEA-708D3CACF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D7BF2C-602C-47D2-8115-41895808270A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689E-09D6-4DAE-8671-6A937F590A8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7EC4C-CE1C-4F3B-8B42-F693F0571C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B1C0BAC-3B65-43CC-BB7B-46A83C1A5264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820B8-1894-49F8-88FB-8C37F16944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716CC-6594-4BE4-B515-E42C30102BF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A3C6FA0-10B1-4BAB-A454-E5898FD240F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7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0961-C299-460B-BC3E-1AC6AC10488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0C2DA-9900-4794-9681-A3267540F96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F6F23-A6A9-4AA8-8D3C-91BA6AB0AA7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C4EC8C-2836-4187-A17B-D7378E4CCFDE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4BD04-3D0E-44FB-9032-10F39E18A98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84E6C-FEA1-419A-930A-3DEC4DEC6DC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BE8C1F9-3473-41FF-855C-608F1318FA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4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6C44B-7046-4803-A97B-98ADC13D9CD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F7024-AC7A-427D-B16D-ED8A3FEA15B0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8D8B5-5293-4EFE-A6AA-ABA90922D0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804EE0-1AD9-4554-8472-95738953336E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3A6E2-E4AF-4706-A8E0-C490E59EBAF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AE84A-E937-4B6C-9558-50E3880710A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12FAAD-132D-4403-A647-B7E7EE84FA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82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22AAB-00A9-4692-8585-C0832E02619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61996" y="2286000"/>
            <a:ext cx="6223004" cy="1524003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26B10-1EA4-42D6-8608-E069128C345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1996" y="4063995"/>
            <a:ext cx="6223004" cy="139700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99474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829FF9A-E538-43C0-B712-FFB7B98F4B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2608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DF3B-3796-434E-805A-F008CAB3A7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2286000"/>
            <a:ext cx="6223004" cy="1524003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99E0E-BCB2-4406-BEAB-7EAB79C4B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996" y="4063995"/>
            <a:ext cx="6223004" cy="1397002"/>
          </a:xfrm>
        </p:spPr>
        <p:txBody>
          <a:bodyPr/>
          <a:lstStyle>
            <a:lvl1pPr marL="0" indent="0">
              <a:buNone/>
              <a:defRPr sz="2400">
                <a:solidFill>
                  <a:srgbClr val="8B8B8D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722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451CA2-E037-4C53-85C1-DC46AEDBF98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8ED291E-616D-451C-9E25-79AE3B68D28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9452AF84-01AA-494A-AD2D-44F51C21398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722C7F-2944-4BE9-A334-E415B2EF4BE4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DDEDBA4-8A44-430A-8B4E-71A64C03D2A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16E2AB1-DFF7-445F-BFC9-B61D106EF48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6B3269-F3B8-4A12-9AAD-0505D3E936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42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ECA8B6-E985-42CD-AE08-9649F6ECB7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27255DE-EEB6-4093-B149-91E38FD76724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F91120-66FD-4D78-B477-CDA9E591722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8F835BC-B5AC-48BE-A867-3E0BA7423874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F59C84D5-874F-4F33-AAFD-B428916543B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02C3B8-832C-4C72-A316-66B7684F19D4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1E48CAD2-07B3-4585-9F47-431E0A2792D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ABAAD175-1C78-4A0E-BD95-E7EB2B364F5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949884-85FF-4EB1-8412-12FDDAF133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56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0716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3487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2A09301-48C2-4471-BFD8-2C4C449F0ED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C625100-AF94-43E3-B5E4-976D602DBEF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5F71AF19-B96A-4A07-BC98-C22168025CE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96B488-1EE4-499A-9D51-094D51293FC9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30D45C7C-6830-43D5-97FC-601F606BEE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CF11C705-ABCF-4806-9DC5-38F2C20CDC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E8FA46E-1568-4BBF-AFF9-F3FA4005DC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73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07B70CD3-7B38-4FEE-8FD4-B2CCC65A4469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8B28B59-E48C-47FF-A012-D40386646B6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5F75450E-758E-4E4B-B1F6-0D8FE3D153D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6F01C7D-2D47-4E2E-A785-6502328013D7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108C58A6-A330-4037-BD64-CD4B74279C5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0DC9524-F7A0-4B52-AAC7-8389B8F7FF7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0E185C-4BED-48E4-AC61-131CDE9ACF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694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F85E1630-276A-4284-B52F-7E33EA33EAF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3C83197-DF85-45B6-B810-2E7345BFC39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1456D6-00C2-46EE-B8D9-814E3FD50AE1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4AA91B6-BDD3-4205-A964-9523E9FE671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CCB5B6-E1DB-45FD-9820-EC809D0492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F7E7E7-1280-4294-93A2-129FBD5D2B9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05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C77F07B9-D825-46C1-A4C7-DF58A176BFA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B3A45A0-2E15-4815-8FC6-3F8584007D4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3F7232-D35D-476B-9B9D-98F1193C071E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C5D7215-22D7-40DB-8FEA-9C53CA38DDC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7D7064-2FA5-4267-ABDB-4299886FFC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7FAD05-D822-4F50-9505-9186370D9E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8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AC11D1-8673-4940-98C4-3A4D99D723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4B205-EA70-4E38-8DEA-EF555BC105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25A11-390A-4D6B-9296-D6654596DC0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AC0F5A5C-06E2-4D05-BE07-0FDA04DC0386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772FD-724B-435C-9330-69B496857E6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91B60-4543-406B-8238-2E23F001DA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1E022090-5F4F-4CB1-9AF3-4FBE310A2DB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FB95A-5D3F-4189-9DF0-160BD9FDE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B4364-CCE6-4AEC-A7DD-1E59B6C54B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D7B81-2578-41D5-A49F-311C8E32E4EF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B8B8D"/>
                </a:solidFill>
                <a:uFillTx/>
                <a:latin typeface="Segoe UI"/>
              </a:defRPr>
            </a:lvl1pPr>
          </a:lstStyle>
          <a:p>
            <a:pPr lvl="0"/>
            <a:fld id="{00821DAF-4D5B-4FDA-A293-8F3317AE36DA}" type="datetime1">
              <a:rPr lang="en-US"/>
              <a:pPr lvl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9C9A3-17A9-4CC1-87D5-089078A1D7C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B8B8D"/>
                </a:solidFill>
                <a:uFillTx/>
                <a:latin typeface="Segoe U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0B8B-E2B2-40FB-B175-504B3DC7ADB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B8B8D"/>
                </a:solidFill>
                <a:uFillTx/>
                <a:latin typeface="Segoe UI"/>
              </a:defRPr>
            </a:lvl1pPr>
          </a:lstStyle>
          <a:p>
            <a:pPr lvl="0"/>
            <a:fld id="{2A244D42-091D-488C-99F3-D7D0C3EE37B2}" type="slidenum">
              <a:t>‹#›</a:t>
            </a:fld>
            <a:endParaRPr lang="en-US"/>
          </a:p>
        </p:txBody>
      </p:sp>
      <p:sp>
        <p:nvSpPr>
          <p:cNvPr id="7" name="MasterRule">
            <a:extLst>
              <a:ext uri="{FF2B5EF4-FFF2-40B4-BE49-F238E27FC236}">
                <a16:creationId xmlns:a16="http://schemas.microsoft.com/office/drawing/2014/main" id="{BC8A3B2E-5E84-42AD-8EB5-ACD974D1534B}"/>
              </a:ext>
            </a:extLst>
          </p:cNvPr>
          <p:cNvSpPr/>
          <p:nvPr/>
        </p:nvSpPr>
        <p:spPr>
          <a:xfrm>
            <a:off x="761996" y="6349995"/>
            <a:ext cx="1524003" cy="25402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1B1B27"/>
              </a:solidFill>
              <a:uFillTx/>
              <a:latin typeface="Segoe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1B1B27"/>
          </a:solidFill>
          <a:uFillTx/>
          <a:latin typeface="Segoe U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3B3939"/>
          </a:solidFill>
          <a:uFillTx/>
          <a:latin typeface="Segoe U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3B3939"/>
          </a:solidFill>
          <a:uFillTx/>
          <a:latin typeface="Segoe U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3B3939"/>
          </a:solidFill>
          <a:uFillTx/>
          <a:latin typeface="Segoe U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3B3939"/>
          </a:solidFill>
          <a:uFillTx/>
          <a:latin typeface="Segoe U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3B3939"/>
          </a:solidFill>
          <a:uFillTx/>
          <a:latin typeface="Segoe U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>
            <a:extLst>
              <a:ext uri="{FF2B5EF4-FFF2-40B4-BE49-F238E27FC236}">
                <a16:creationId xmlns:a16="http://schemas.microsoft.com/office/drawing/2014/main" id="{D1A17961-FCBE-451E-98EE-B320CF27BD3D}"/>
              </a:ext>
            </a:extLst>
          </p:cNvPr>
          <p:cNvSpPr/>
          <p:nvPr/>
        </p:nvSpPr>
        <p:spPr>
          <a:xfrm>
            <a:off x="7619996" y="0"/>
            <a:ext cx="4572000" cy="6858000"/>
          </a:xfrm>
          <a:prstGeom prst="rect">
            <a:avLst/>
          </a:prstGeom>
          <a:solidFill>
            <a:srgbClr val="E0E0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EFE825-AE5F-4B16-9464-5090B16AD24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61996" y="2616198"/>
            <a:ext cx="6349995" cy="1397002"/>
          </a:xfrm>
        </p:spPr>
        <p:txBody>
          <a:bodyPr anchorCtr="0"/>
          <a:lstStyle/>
          <a:p>
            <a:pPr lvl="0" algn="l"/>
            <a:r>
              <a:rPr lang="en-US" sz="4000" b="1">
                <a:solidFill>
                  <a:srgbClr val="1B1B27"/>
                </a:solidFill>
              </a:rPr>
              <a:t>Maze Navigation Using LiDAR Scans</a:t>
            </a:r>
          </a:p>
        </p:txBody>
      </p:sp>
      <p:sp>
        <p:nvSpPr>
          <p:cNvPr id="4" name="AccentBar">
            <a:extLst>
              <a:ext uri="{FF2B5EF4-FFF2-40B4-BE49-F238E27FC236}">
                <a16:creationId xmlns:a16="http://schemas.microsoft.com/office/drawing/2014/main" id="{D492FFE6-E807-41DB-80BD-576F138447E7}"/>
              </a:ext>
            </a:extLst>
          </p:cNvPr>
          <p:cNvSpPr/>
          <p:nvPr/>
        </p:nvSpPr>
        <p:spPr>
          <a:xfrm>
            <a:off x="761996" y="2362196"/>
            <a:ext cx="914400" cy="50804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Byline">
            <a:extLst>
              <a:ext uri="{FF2B5EF4-FFF2-40B4-BE49-F238E27FC236}">
                <a16:creationId xmlns:a16="http://schemas.microsoft.com/office/drawing/2014/main" id="{F94512FE-BFA7-4FD1-A13C-1A2BF11FF65D}"/>
              </a:ext>
            </a:extLst>
          </p:cNvPr>
          <p:cNvSpPr txBox="1"/>
          <p:nvPr/>
        </p:nvSpPr>
        <p:spPr>
          <a:xfrm>
            <a:off x="761996" y="4338315"/>
            <a:ext cx="6349995" cy="761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Maor Amitai, Yair Vax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Project presentation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9177-3ABF-41C8-852D-9167B94904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The Task and the Approach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EAE28357-D1ED-4D50-83EB-895AC906D5E4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87F0DFF7-D34F-4AE4-A71A-69EC25BCFBB8}"/>
              </a:ext>
            </a:extLst>
          </p:cNvPr>
          <p:cNvSpPr/>
          <p:nvPr/>
        </p:nvSpPr>
        <p:spPr>
          <a:xfrm>
            <a:off x="761996" y="1777995"/>
            <a:ext cx="3386663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AE74E689-F8DF-4FB9-8F34-7C5ED49B4E7E}"/>
              </a:ext>
            </a:extLst>
          </p:cNvPr>
          <p:cNvSpPr/>
          <p:nvPr/>
        </p:nvSpPr>
        <p:spPr>
          <a:xfrm>
            <a:off x="761996" y="1777995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5885F491-D129-4754-8F06-F1F07496169D}"/>
              </a:ext>
            </a:extLst>
          </p:cNvPr>
          <p:cNvSpPr txBox="1"/>
          <p:nvPr/>
        </p:nvSpPr>
        <p:spPr>
          <a:xfrm>
            <a:off x="1066803" y="2082802"/>
            <a:ext cx="2777069" cy="4063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The task</a:t>
            </a: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B42D4579-E007-4BFA-9E30-58F19C3078CF}"/>
              </a:ext>
            </a:extLst>
          </p:cNvPr>
          <p:cNvSpPr txBox="1"/>
          <p:nvPr/>
        </p:nvSpPr>
        <p:spPr>
          <a:xfrm>
            <a:off x="1066803" y="2616198"/>
            <a:ext cx="2777069" cy="2031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Navigate a robot through a two-dimensional maze from point A to point B — without ever being told its own position or the position of the goal.</a:t>
            </a:r>
          </a:p>
        </p:txBody>
      </p:sp>
      <p:sp>
        <p:nvSpPr>
          <p:cNvPr id="8" name="R">
            <a:extLst>
              <a:ext uri="{FF2B5EF4-FFF2-40B4-BE49-F238E27FC236}">
                <a16:creationId xmlns:a16="http://schemas.microsoft.com/office/drawing/2014/main" id="{7E085A5F-ECEE-4285-81CE-D67C7D816883}"/>
              </a:ext>
            </a:extLst>
          </p:cNvPr>
          <p:cNvSpPr/>
          <p:nvPr/>
        </p:nvSpPr>
        <p:spPr>
          <a:xfrm>
            <a:off x="4402671" y="1777995"/>
            <a:ext cx="3386663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BDF52E2B-9CFD-40D0-AC69-0704AB161B03}"/>
              </a:ext>
            </a:extLst>
          </p:cNvPr>
          <p:cNvSpPr/>
          <p:nvPr/>
        </p:nvSpPr>
        <p:spPr>
          <a:xfrm>
            <a:off x="4402671" y="1777995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9FF25A98-1497-4A37-86A9-8E9DCD2EE766}"/>
              </a:ext>
            </a:extLst>
          </p:cNvPr>
          <p:cNvSpPr txBox="1"/>
          <p:nvPr/>
        </p:nvSpPr>
        <p:spPr>
          <a:xfrm>
            <a:off x="4707468" y="2082802"/>
            <a:ext cx="2777069" cy="4063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The approach</a:t>
            </a: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F10AFC93-10F6-40D4-9687-6B2B24F416C3}"/>
              </a:ext>
            </a:extLst>
          </p:cNvPr>
          <p:cNvSpPr txBox="1"/>
          <p:nvPr/>
        </p:nvSpPr>
        <p:spPr>
          <a:xfrm>
            <a:off x="4707468" y="2616198"/>
            <a:ext cx="2777069" cy="2031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Replace explicit (x,y) coordinates with sequences of LiDAR readings. A diffusion model plans directly in scan space; a localizer converts scans back into positions only for control.</a:t>
            </a:r>
          </a:p>
        </p:txBody>
      </p:sp>
      <p:sp>
        <p:nvSpPr>
          <p:cNvPr id="12" name="R">
            <a:extLst>
              <a:ext uri="{FF2B5EF4-FFF2-40B4-BE49-F238E27FC236}">
                <a16:creationId xmlns:a16="http://schemas.microsoft.com/office/drawing/2014/main" id="{85DB876A-F918-40D5-A25B-EA9757BC00D2}"/>
              </a:ext>
            </a:extLst>
          </p:cNvPr>
          <p:cNvSpPr/>
          <p:nvPr/>
        </p:nvSpPr>
        <p:spPr>
          <a:xfrm>
            <a:off x="8043336" y="1777995"/>
            <a:ext cx="3386663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R">
            <a:extLst>
              <a:ext uri="{FF2B5EF4-FFF2-40B4-BE49-F238E27FC236}">
                <a16:creationId xmlns:a16="http://schemas.microsoft.com/office/drawing/2014/main" id="{273E364A-F384-4F3E-97D1-2C859CE7EE40}"/>
              </a:ext>
            </a:extLst>
          </p:cNvPr>
          <p:cNvSpPr/>
          <p:nvPr/>
        </p:nvSpPr>
        <p:spPr>
          <a:xfrm>
            <a:off x="8043336" y="1777995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">
            <a:extLst>
              <a:ext uri="{FF2B5EF4-FFF2-40B4-BE49-F238E27FC236}">
                <a16:creationId xmlns:a16="http://schemas.microsoft.com/office/drawing/2014/main" id="{8C79A352-1909-43F3-836F-866CA471B3EB}"/>
              </a:ext>
            </a:extLst>
          </p:cNvPr>
          <p:cNvSpPr txBox="1"/>
          <p:nvPr/>
        </p:nvSpPr>
        <p:spPr>
          <a:xfrm>
            <a:off x="8348133" y="2082802"/>
            <a:ext cx="2777069" cy="4063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Why it is hard</a:t>
            </a:r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C5F100B6-6008-4CA8-BBA1-E8A137E687EB}"/>
              </a:ext>
            </a:extLst>
          </p:cNvPr>
          <p:cNvSpPr txBox="1"/>
          <p:nvPr/>
        </p:nvSpPr>
        <p:spPr>
          <a:xfrm>
            <a:off x="8348133" y="2616198"/>
            <a:ext cx="2777069" cy="2031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Giant mazes are made of long, self-similar corridors, so many different places produce almost identical scans. The core difficulty is ambiguity, not control.</a:t>
            </a:r>
          </a:p>
        </p:txBody>
      </p:sp>
      <p:sp>
        <p:nvSpPr>
          <p:cNvPr id="16" name="NoteBg">
            <a:extLst>
              <a:ext uri="{FF2B5EF4-FFF2-40B4-BE49-F238E27FC236}">
                <a16:creationId xmlns:a16="http://schemas.microsoft.com/office/drawing/2014/main" id="{0DA61668-8ACE-4578-8FCA-BE57017DA5EC}"/>
              </a:ext>
            </a:extLst>
          </p:cNvPr>
          <p:cNvSpPr/>
          <p:nvPr/>
        </p:nvSpPr>
        <p:spPr>
          <a:xfrm>
            <a:off x="761996" y="5333996"/>
            <a:ext cx="10668003" cy="838203"/>
          </a:xfrm>
          <a:prstGeom prst="rect">
            <a:avLst/>
          </a:prstGeom>
          <a:solidFill>
            <a:srgbClr val="E0E0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NoteTx">
            <a:extLst>
              <a:ext uri="{FF2B5EF4-FFF2-40B4-BE49-F238E27FC236}">
                <a16:creationId xmlns:a16="http://schemas.microsoft.com/office/drawing/2014/main" id="{800D6699-60C2-4E99-AC8F-41EABA3D7123}"/>
              </a:ext>
            </a:extLst>
          </p:cNvPr>
          <p:cNvSpPr txBox="1"/>
          <p:nvPr/>
        </p:nvSpPr>
        <p:spPr>
          <a:xfrm>
            <a:off x="1066803" y="5537204"/>
            <a:ext cx="10058400" cy="5080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Constraint: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the planner never sees x or y, in any form, at any point — every position it acts on is inferred from the sensor.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66474-D5ED-4624-A69D-7173D76BC2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Technical Architecture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0A3C013E-163D-4D76-AC2B-D4F157F09E15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AA61C7D0-9859-4AAD-89A6-A4FAAC0170CE}"/>
              </a:ext>
            </a:extLst>
          </p:cNvPr>
          <p:cNvSpPr/>
          <p:nvPr/>
        </p:nvSpPr>
        <p:spPr>
          <a:xfrm>
            <a:off x="1897782" y="1777995"/>
            <a:ext cx="3386663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06551BA4-457A-4396-9790-EACA08A01776}"/>
              </a:ext>
            </a:extLst>
          </p:cNvPr>
          <p:cNvSpPr/>
          <p:nvPr/>
        </p:nvSpPr>
        <p:spPr>
          <a:xfrm>
            <a:off x="1897782" y="1777995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3E79F5F8-8336-4936-B266-704357A9AC48}"/>
              </a:ext>
            </a:extLst>
          </p:cNvPr>
          <p:cNvSpPr txBox="1"/>
          <p:nvPr/>
        </p:nvSpPr>
        <p:spPr>
          <a:xfrm>
            <a:off x="2202579" y="2057400"/>
            <a:ext cx="2777069" cy="254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STAGE 1</a:t>
            </a: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7C9C7EFC-943B-4F7A-AA41-75C3CCC63AB7}"/>
              </a:ext>
            </a:extLst>
          </p:cNvPr>
          <p:cNvSpPr txBox="1"/>
          <p:nvPr/>
        </p:nvSpPr>
        <p:spPr>
          <a:xfrm>
            <a:off x="2202579" y="2413001"/>
            <a:ext cx="2777069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Diffusion planner</a:t>
            </a: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D6BEC8EF-084C-473A-AC6F-E0E1E45F814A}"/>
              </a:ext>
            </a:extLst>
          </p:cNvPr>
          <p:cNvSpPr txBox="1"/>
          <p:nvPr/>
        </p:nvSpPr>
        <p:spPr>
          <a:xfrm>
            <a:off x="2202579" y="2920995"/>
            <a:ext cx="2777069" cy="17526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Generates a trajectory of future LiDAR scans from a start scan and a goal scan. </a:t>
            </a: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41B9BDC7-C340-47D1-ACC8-1935FA4E0266}"/>
              </a:ext>
            </a:extLst>
          </p:cNvPr>
          <p:cNvSpPr/>
          <p:nvPr/>
        </p:nvSpPr>
        <p:spPr>
          <a:xfrm>
            <a:off x="7128927" y="1777995"/>
            <a:ext cx="3386663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C39795C1-2D8B-453E-A1A7-377C7AE62F8D}"/>
              </a:ext>
            </a:extLst>
          </p:cNvPr>
          <p:cNvSpPr/>
          <p:nvPr/>
        </p:nvSpPr>
        <p:spPr>
          <a:xfrm>
            <a:off x="7128927" y="1777995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30D2D7EE-1E6A-440A-89F0-554D0FD95138}"/>
              </a:ext>
            </a:extLst>
          </p:cNvPr>
          <p:cNvSpPr txBox="1"/>
          <p:nvPr/>
        </p:nvSpPr>
        <p:spPr>
          <a:xfrm>
            <a:off x="7433733" y="2057400"/>
            <a:ext cx="2777069" cy="254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STAGE 2</a:t>
            </a: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5F7364C3-9BF0-4046-A3FC-261551AE99AC}"/>
              </a:ext>
            </a:extLst>
          </p:cNvPr>
          <p:cNvSpPr txBox="1"/>
          <p:nvPr/>
        </p:nvSpPr>
        <p:spPr>
          <a:xfrm>
            <a:off x="7433733" y="2413001"/>
            <a:ext cx="2777069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Executor</a:t>
            </a: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02B2B307-CF2D-498E-8DA5-1B6C512328ED}"/>
              </a:ext>
            </a:extLst>
          </p:cNvPr>
          <p:cNvSpPr txBox="1"/>
          <p:nvPr/>
        </p:nvSpPr>
        <p:spPr>
          <a:xfrm>
            <a:off x="7433733" y="2920995"/>
            <a:ext cx="2777069" cy="17526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inverse-dynamics model mapping current scan → desired scan into joint torques. </a:t>
            </a: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E20925CD-8BBA-4404-8D41-55E397B3E299}"/>
              </a:ext>
            </a:extLst>
          </p:cNvPr>
          <p:cNvSpPr/>
          <p:nvPr/>
        </p:nvSpPr>
        <p:spPr>
          <a:xfrm>
            <a:off x="761996" y="5333996"/>
            <a:ext cx="10668003" cy="838203"/>
          </a:xfrm>
          <a:prstGeom prst="rect">
            <a:avLst/>
          </a:prstGeom>
          <a:solidFill>
            <a:srgbClr val="E0E0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B46C3214-C73D-47CD-9B30-3AE5BC26E46A}"/>
              </a:ext>
            </a:extLst>
          </p:cNvPr>
          <p:cNvSpPr txBox="1"/>
          <p:nvPr/>
        </p:nvSpPr>
        <p:spPr>
          <a:xfrm>
            <a:off x="1066803" y="5537204"/>
            <a:ext cx="10058400" cy="558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Environment: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OGBench AntMaze Giant, then PointMaze Giant Stitch. Everything runs on comp_diffuser_release.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323B-E07F-4A94-A361-7D90787BEE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Project Timeline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00C236F7-6112-4147-9A85-2B752FE62181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5FC2E5E6-717F-42B4-A8CD-9A04B7AC2B41}"/>
              </a:ext>
            </a:extLst>
          </p:cNvPr>
          <p:cNvSpPr/>
          <p:nvPr/>
        </p:nvSpPr>
        <p:spPr>
          <a:xfrm>
            <a:off x="761996" y="3454402"/>
            <a:ext cx="10668003" cy="25402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5337304C-AD58-44B5-B9AD-60D477D26E10}"/>
              </a:ext>
            </a:extLst>
          </p:cNvPr>
          <p:cNvSpPr/>
          <p:nvPr/>
        </p:nvSpPr>
        <p:spPr>
          <a:xfrm>
            <a:off x="761996" y="3378195"/>
            <a:ext cx="177795" cy="17779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9B80EC6C-DE98-4A22-8492-CDD7268D70FA}"/>
              </a:ext>
            </a:extLst>
          </p:cNvPr>
          <p:cNvSpPr txBox="1"/>
          <p:nvPr/>
        </p:nvSpPr>
        <p:spPr>
          <a:xfrm>
            <a:off x="761996" y="1422404"/>
            <a:ext cx="1625602" cy="18033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Kickoff</a:t>
            </a:r>
          </a:p>
          <a:p>
            <a:pPr marL="0" marR="0" lvl="0" indent="0" algn="l" defTabSz="914400" rtl="0" fontAlgn="auto" hangingPunct="1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Navigate a 2-D maze from A to B with (x,y) input.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C71B6E2F-E722-4908-85C5-E3737F67BB1E}"/>
              </a:ext>
            </a:extLst>
          </p:cNvPr>
          <p:cNvSpPr/>
          <p:nvPr/>
        </p:nvSpPr>
        <p:spPr>
          <a:xfrm>
            <a:off x="838203" y="3225802"/>
            <a:ext cx="12701" cy="177795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R">
            <a:extLst>
              <a:ext uri="{FF2B5EF4-FFF2-40B4-BE49-F238E27FC236}">
                <a16:creationId xmlns:a16="http://schemas.microsoft.com/office/drawing/2014/main" id="{52D35724-798C-4C78-A30C-310A7C507D56}"/>
              </a:ext>
            </a:extLst>
          </p:cNvPr>
          <p:cNvSpPr/>
          <p:nvPr/>
        </p:nvSpPr>
        <p:spPr>
          <a:xfrm>
            <a:off x="2540002" y="3378195"/>
            <a:ext cx="177795" cy="17779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809C762D-8C34-4EB3-B738-30A452A49F07}"/>
              </a:ext>
            </a:extLst>
          </p:cNvPr>
          <p:cNvSpPr txBox="1"/>
          <p:nvPr/>
        </p:nvSpPr>
        <p:spPr>
          <a:xfrm>
            <a:off x="2540002" y="3759198"/>
            <a:ext cx="1625602" cy="1904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LiDAR port</a:t>
            </a:r>
          </a:p>
          <a:p>
            <a:pPr marL="0" marR="0" lvl="0" indent="0" algn="l" defTabSz="914400" rtl="0" fontAlgn="auto" hangingPunct="1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Lidar scans replace (x,y). simulated laser, dataset conversion, retrained diffusion and inverse dynamics.</a:t>
            </a: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099343F8-2D25-4000-BAEF-1E157884D0DB}"/>
              </a:ext>
            </a:extLst>
          </p:cNvPr>
          <p:cNvSpPr/>
          <p:nvPr/>
        </p:nvSpPr>
        <p:spPr>
          <a:xfrm>
            <a:off x="2616198" y="3556001"/>
            <a:ext cx="12701" cy="177795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R">
            <a:extLst>
              <a:ext uri="{FF2B5EF4-FFF2-40B4-BE49-F238E27FC236}">
                <a16:creationId xmlns:a16="http://schemas.microsoft.com/office/drawing/2014/main" id="{E3B5EDEA-403D-454F-847C-FB53C3BE3F2F}"/>
              </a:ext>
            </a:extLst>
          </p:cNvPr>
          <p:cNvSpPr/>
          <p:nvPr/>
        </p:nvSpPr>
        <p:spPr>
          <a:xfrm>
            <a:off x="4317997" y="3378195"/>
            <a:ext cx="177795" cy="17779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04A84549-49DC-4941-897A-E929D53C43B2}"/>
              </a:ext>
            </a:extLst>
          </p:cNvPr>
          <p:cNvSpPr txBox="1"/>
          <p:nvPr/>
        </p:nvSpPr>
        <p:spPr>
          <a:xfrm>
            <a:off x="4317997" y="1422404"/>
            <a:ext cx="1625602" cy="18033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Localization</a:t>
            </a:r>
          </a:p>
          <a:p>
            <a:pPr marL="0" marR="0" lvl="0" indent="0" algn="l" defTabSz="914400" rtl="0" fontAlgn="auto" hangingPunct="1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3-D pose grid (x, y, θ), likelihood maps, candidate ranking.</a:t>
            </a:r>
          </a:p>
        </p:txBody>
      </p:sp>
      <p:sp>
        <p:nvSpPr>
          <p:cNvPr id="13" name="R">
            <a:extLst>
              <a:ext uri="{FF2B5EF4-FFF2-40B4-BE49-F238E27FC236}">
                <a16:creationId xmlns:a16="http://schemas.microsoft.com/office/drawing/2014/main" id="{2FBEA804-E648-4C87-8B2C-AD638E497C36}"/>
              </a:ext>
            </a:extLst>
          </p:cNvPr>
          <p:cNvSpPr/>
          <p:nvPr/>
        </p:nvSpPr>
        <p:spPr>
          <a:xfrm>
            <a:off x="4394204" y="3225802"/>
            <a:ext cx="12701" cy="177795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82136B64-6C53-4E6B-8072-936BA0741EF5}"/>
              </a:ext>
            </a:extLst>
          </p:cNvPr>
          <p:cNvSpPr/>
          <p:nvPr/>
        </p:nvSpPr>
        <p:spPr>
          <a:xfrm>
            <a:off x="6096003" y="3378195"/>
            <a:ext cx="177795" cy="17779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E27B9192-D430-4AD6-B82C-9B280839CA68}"/>
              </a:ext>
            </a:extLst>
          </p:cNvPr>
          <p:cNvSpPr txBox="1"/>
          <p:nvPr/>
        </p:nvSpPr>
        <p:spPr>
          <a:xfrm>
            <a:off x="6096003" y="3759198"/>
            <a:ext cx="1625602" cy="1904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Ant improvements and plateau</a:t>
            </a:r>
          </a:p>
          <a:p>
            <a:pPr marL="0" marR="0" lvl="0" indent="0" algn="l" defTabSz="914400" rtl="0" fontAlgn="auto" hangingPunct="1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End-to-end tops out near 10%. Goal-scan ambiguity, not control, is the binding constraint.</a:t>
            </a:r>
          </a:p>
        </p:txBody>
      </p:sp>
      <p:sp>
        <p:nvSpPr>
          <p:cNvPr id="16" name="R">
            <a:extLst>
              <a:ext uri="{FF2B5EF4-FFF2-40B4-BE49-F238E27FC236}">
                <a16:creationId xmlns:a16="http://schemas.microsoft.com/office/drawing/2014/main" id="{C365FE69-665F-40A3-9904-5FE067DE1812}"/>
              </a:ext>
            </a:extLst>
          </p:cNvPr>
          <p:cNvSpPr/>
          <p:nvPr/>
        </p:nvSpPr>
        <p:spPr>
          <a:xfrm>
            <a:off x="6172200" y="3556001"/>
            <a:ext cx="12701" cy="177795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R">
            <a:extLst>
              <a:ext uri="{FF2B5EF4-FFF2-40B4-BE49-F238E27FC236}">
                <a16:creationId xmlns:a16="http://schemas.microsoft.com/office/drawing/2014/main" id="{EF3732BE-45D6-4E58-ABFC-F4F575989AE8}"/>
              </a:ext>
            </a:extLst>
          </p:cNvPr>
          <p:cNvSpPr/>
          <p:nvPr/>
        </p:nvSpPr>
        <p:spPr>
          <a:xfrm>
            <a:off x="7873998" y="3378195"/>
            <a:ext cx="177795" cy="17779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">
            <a:extLst>
              <a:ext uri="{FF2B5EF4-FFF2-40B4-BE49-F238E27FC236}">
                <a16:creationId xmlns:a16="http://schemas.microsoft.com/office/drawing/2014/main" id="{47B87060-8FD8-472D-A8A5-FF5E6A032212}"/>
              </a:ext>
            </a:extLst>
          </p:cNvPr>
          <p:cNvSpPr txBox="1"/>
          <p:nvPr/>
        </p:nvSpPr>
        <p:spPr>
          <a:xfrm>
            <a:off x="7873998" y="1422404"/>
            <a:ext cx="1625602" cy="18033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Pivot to the ball + keep improving ant.</a:t>
            </a:r>
          </a:p>
          <a:p>
            <a:pPr marL="0" marR="0" lvl="0" indent="0" algn="l" defTabSz="914400" rtl="0" fontAlgn="auto" hangingPunct="1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Verify and hop, improving ant movment, fixing goal localization.</a:t>
            </a:r>
          </a:p>
        </p:txBody>
      </p:sp>
      <p:sp>
        <p:nvSpPr>
          <p:cNvPr id="19" name="R">
            <a:extLst>
              <a:ext uri="{FF2B5EF4-FFF2-40B4-BE49-F238E27FC236}">
                <a16:creationId xmlns:a16="http://schemas.microsoft.com/office/drawing/2014/main" id="{78D53D4C-3BDB-4F53-8964-ED893877573B}"/>
              </a:ext>
            </a:extLst>
          </p:cNvPr>
          <p:cNvSpPr/>
          <p:nvPr/>
        </p:nvSpPr>
        <p:spPr>
          <a:xfrm>
            <a:off x="7950195" y="3225802"/>
            <a:ext cx="12701" cy="177795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R">
            <a:extLst>
              <a:ext uri="{FF2B5EF4-FFF2-40B4-BE49-F238E27FC236}">
                <a16:creationId xmlns:a16="http://schemas.microsoft.com/office/drawing/2014/main" id="{0219AA42-E53A-4A94-8D6E-96F31F8C7676}"/>
              </a:ext>
            </a:extLst>
          </p:cNvPr>
          <p:cNvSpPr/>
          <p:nvPr/>
        </p:nvSpPr>
        <p:spPr>
          <a:xfrm>
            <a:off x="9652004" y="3378195"/>
            <a:ext cx="177795" cy="17779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">
            <a:extLst>
              <a:ext uri="{FF2B5EF4-FFF2-40B4-BE49-F238E27FC236}">
                <a16:creationId xmlns:a16="http://schemas.microsoft.com/office/drawing/2014/main" id="{D95909F2-327B-48BE-AEF6-1D1BC1A0CC27}"/>
              </a:ext>
            </a:extLst>
          </p:cNvPr>
          <p:cNvSpPr txBox="1"/>
          <p:nvPr/>
        </p:nvSpPr>
        <p:spPr>
          <a:xfrm>
            <a:off x="9652004" y="3759198"/>
            <a:ext cx="1625602" cy="1904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Ball: Viterbi + budget</a:t>
            </a:r>
          </a:p>
          <a:p>
            <a:pPr marL="0" marR="0" lvl="0" indent="0" algn="l" defTabSz="914400" rtl="0" fontAlgn="auto" hangingPunct="1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Viterbi decode lifts @1000 from 19.0 to 45.2. Step budget corrected to OGBench's 1000.</a:t>
            </a:r>
          </a:p>
        </p:txBody>
      </p:sp>
      <p:sp>
        <p:nvSpPr>
          <p:cNvPr id="22" name="R">
            <a:extLst>
              <a:ext uri="{FF2B5EF4-FFF2-40B4-BE49-F238E27FC236}">
                <a16:creationId xmlns:a16="http://schemas.microsoft.com/office/drawing/2014/main" id="{7832FE3C-338B-475E-81BD-AC636A306B41}"/>
              </a:ext>
            </a:extLst>
          </p:cNvPr>
          <p:cNvSpPr/>
          <p:nvPr/>
        </p:nvSpPr>
        <p:spPr>
          <a:xfrm>
            <a:off x="9728201" y="3556001"/>
            <a:ext cx="12701" cy="177795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26F2-0A86-4B74-AACD-24864C5E6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The First Result After the LiDAR Port: 0%</a:t>
            </a:r>
            <a:endParaRPr lang="en-IL" sz="3200" b="1">
              <a:solidFill>
                <a:srgbClr val="1B1B27"/>
              </a:solidFill>
            </a:endParaRP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FC12F2A3-C4AB-489C-B566-027375F7788A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">
            <a:extLst>
              <a:ext uri="{FF2B5EF4-FFF2-40B4-BE49-F238E27FC236}">
                <a16:creationId xmlns:a16="http://schemas.microsoft.com/office/drawing/2014/main" id="{9D70E2B5-0F44-4DD3-821D-A5F2F7CFACC8}"/>
              </a:ext>
            </a:extLst>
          </p:cNvPr>
          <p:cNvSpPr txBox="1"/>
          <p:nvPr/>
        </p:nvSpPr>
        <p:spPr>
          <a:xfrm>
            <a:off x="761996" y="1397002"/>
            <a:ext cx="10668003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The first end-to-end run on AntMaze Giant with (x,y) replaced by LiDAR scans reached the goal in none of the episodes</a:t>
            </a: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56E6E9F6-3B9C-45CB-9082-7106E266DA74}"/>
              </a:ext>
            </a:extLst>
          </p:cNvPr>
          <p:cNvSpPr/>
          <p:nvPr/>
        </p:nvSpPr>
        <p:spPr>
          <a:xfrm>
            <a:off x="761996" y="1689765"/>
            <a:ext cx="5206995" cy="2540002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R">
            <a:extLst>
              <a:ext uri="{FF2B5EF4-FFF2-40B4-BE49-F238E27FC236}">
                <a16:creationId xmlns:a16="http://schemas.microsoft.com/office/drawing/2014/main" id="{19991FE9-0E94-4253-915E-474EB00B127F}"/>
              </a:ext>
            </a:extLst>
          </p:cNvPr>
          <p:cNvSpPr/>
          <p:nvPr/>
        </p:nvSpPr>
        <p:spPr>
          <a:xfrm>
            <a:off x="761996" y="1689765"/>
            <a:ext cx="76196" cy="2540002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5E33A8A7-0710-4CC2-AA8D-3F1D71BD9E33}"/>
              </a:ext>
            </a:extLst>
          </p:cNvPr>
          <p:cNvSpPr txBox="1"/>
          <p:nvPr/>
        </p:nvSpPr>
        <p:spPr>
          <a:xfrm>
            <a:off x="1092195" y="2121572"/>
            <a:ext cx="4572000" cy="1092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6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0%</a:t>
            </a: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6641244C-B8FC-4E16-87E8-793ECF5977A2}"/>
              </a:ext>
            </a:extLst>
          </p:cNvPr>
          <p:cNvSpPr txBox="1"/>
          <p:nvPr/>
        </p:nvSpPr>
        <p:spPr>
          <a:xfrm>
            <a:off x="1092195" y="3340769"/>
            <a:ext cx="4572000" cy="6858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Success rate after the port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AntMaze Giant · scans in place of coordinates</a:t>
            </a: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7863326F-D411-4EE6-AE50-BAA3E79E9AF6}"/>
              </a:ext>
            </a:extLst>
          </p:cNvPr>
          <p:cNvSpPr/>
          <p:nvPr/>
        </p:nvSpPr>
        <p:spPr>
          <a:xfrm>
            <a:off x="761996" y="4297140"/>
            <a:ext cx="5206995" cy="1219196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2835D831-3BCA-4DC9-895D-1B7AB5F70FCB}"/>
              </a:ext>
            </a:extLst>
          </p:cNvPr>
          <p:cNvSpPr/>
          <p:nvPr/>
        </p:nvSpPr>
        <p:spPr>
          <a:xfrm>
            <a:off x="761996" y="4297140"/>
            <a:ext cx="76196" cy="1219196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08D50695-5C52-4753-9334-D4EA908A680B}"/>
              </a:ext>
            </a:extLst>
          </p:cNvPr>
          <p:cNvSpPr txBox="1"/>
          <p:nvPr/>
        </p:nvSpPr>
        <p:spPr>
          <a:xfrm>
            <a:off x="1066803" y="4525740"/>
            <a:ext cx="4597402" cy="8128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WHAT WAS ALREADY WORKING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Dataset conversion, simulated laser, retrained diffusion planner and inverse dynamics — the pipeline ran end to end.</a:t>
            </a:r>
          </a:p>
        </p:txBody>
      </p:sp>
      <p:sp>
        <p:nvSpPr>
          <p:cNvPr id="12" name="R">
            <a:extLst>
              <a:ext uri="{FF2B5EF4-FFF2-40B4-BE49-F238E27FC236}">
                <a16:creationId xmlns:a16="http://schemas.microsoft.com/office/drawing/2014/main" id="{C691309B-9BAF-4FB4-8581-B12ADDB53B8F}"/>
              </a:ext>
            </a:extLst>
          </p:cNvPr>
          <p:cNvSpPr/>
          <p:nvPr/>
        </p:nvSpPr>
        <p:spPr>
          <a:xfrm>
            <a:off x="761996" y="5598697"/>
            <a:ext cx="5206995" cy="1219196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R">
            <a:extLst>
              <a:ext uri="{FF2B5EF4-FFF2-40B4-BE49-F238E27FC236}">
                <a16:creationId xmlns:a16="http://schemas.microsoft.com/office/drawing/2014/main" id="{3C243F56-D06B-4ABB-B8E2-45412F49FA62}"/>
              </a:ext>
            </a:extLst>
          </p:cNvPr>
          <p:cNvSpPr/>
          <p:nvPr/>
        </p:nvSpPr>
        <p:spPr>
          <a:xfrm>
            <a:off x="761996" y="5598697"/>
            <a:ext cx="76196" cy="1219196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">
            <a:extLst>
              <a:ext uri="{FF2B5EF4-FFF2-40B4-BE49-F238E27FC236}">
                <a16:creationId xmlns:a16="http://schemas.microsoft.com/office/drawing/2014/main" id="{BCBA576C-9250-440C-B911-82128755591E}"/>
              </a:ext>
            </a:extLst>
          </p:cNvPr>
          <p:cNvSpPr txBox="1"/>
          <p:nvPr/>
        </p:nvSpPr>
        <p:spPr>
          <a:xfrm>
            <a:off x="1066803" y="5827297"/>
            <a:ext cx="4597402" cy="8128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WHAT WE DID NOT YET KNOW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Why it was zero. Perception, control and goal ambiguity were all still stacked on top of each other.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DABB5241-34E9-4356-8258-01FBEE30A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078" y="1633502"/>
            <a:ext cx="4628921" cy="518439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8AAE-8C30-4BFE-8BC2-085BE51AA7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First Problem: The Ant Would Not Move</a:t>
            </a:r>
            <a:endParaRPr lang="en-IL" sz="3200" b="1">
              <a:solidFill>
                <a:srgbClr val="1B1B27"/>
              </a:solidFill>
            </a:endParaRP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C16C467C-E844-4E4C-8A8C-0291D420A936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">
            <a:extLst>
              <a:ext uri="{FF2B5EF4-FFF2-40B4-BE49-F238E27FC236}">
                <a16:creationId xmlns:a16="http://schemas.microsoft.com/office/drawing/2014/main" id="{E26F87D7-41D2-4972-BFFD-EEF6C96582B6}"/>
              </a:ext>
            </a:extLst>
          </p:cNvPr>
          <p:cNvSpPr txBox="1"/>
          <p:nvPr/>
        </p:nvSpPr>
        <p:spPr>
          <a:xfrm>
            <a:off x="761996" y="1397002"/>
            <a:ext cx="10668003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The inverse dynamics model never saw the ant's joint angles — restoring them lifted action-prediction R² from 0.26 to 0.88</a:t>
            </a: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5D4CE9CF-9D44-4D7E-B91A-CD69AC15124B}"/>
              </a:ext>
            </a:extLst>
          </p:cNvPr>
          <p:cNvSpPr/>
          <p:nvPr/>
        </p:nvSpPr>
        <p:spPr>
          <a:xfrm>
            <a:off x="761996" y="1930398"/>
            <a:ext cx="3301998" cy="2235195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R">
            <a:extLst>
              <a:ext uri="{FF2B5EF4-FFF2-40B4-BE49-F238E27FC236}">
                <a16:creationId xmlns:a16="http://schemas.microsoft.com/office/drawing/2014/main" id="{84DD897A-31A7-4B85-AFD6-E50186D54473}"/>
              </a:ext>
            </a:extLst>
          </p:cNvPr>
          <p:cNvSpPr/>
          <p:nvPr/>
        </p:nvSpPr>
        <p:spPr>
          <a:xfrm>
            <a:off x="761996" y="1930398"/>
            <a:ext cx="76196" cy="2235195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34BB24A8-44BF-4EF7-A45D-67A30B9E6270}"/>
              </a:ext>
            </a:extLst>
          </p:cNvPr>
          <p:cNvSpPr txBox="1"/>
          <p:nvPr/>
        </p:nvSpPr>
        <p:spPr>
          <a:xfrm>
            <a:off x="1041401" y="2209803"/>
            <a:ext cx="2743200" cy="1676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THE PROBLEM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The inverse dynamics model was missing the joint angles of the ant's legs.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The robot did not move at all.</a:t>
            </a:r>
          </a:p>
        </p:txBody>
      </p:sp>
      <p:sp>
        <p:nvSpPr>
          <p:cNvPr id="8" name="R">
            <a:extLst>
              <a:ext uri="{FF2B5EF4-FFF2-40B4-BE49-F238E27FC236}">
                <a16:creationId xmlns:a16="http://schemas.microsoft.com/office/drawing/2014/main" id="{9AF6740E-0CCC-4A50-BF53-8C8EFB723E72}"/>
              </a:ext>
            </a:extLst>
          </p:cNvPr>
          <p:cNvSpPr/>
          <p:nvPr/>
        </p:nvSpPr>
        <p:spPr>
          <a:xfrm>
            <a:off x="4444998" y="1930398"/>
            <a:ext cx="3301998" cy="2235195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2924EF66-78F3-4A89-90C9-5018726BB086}"/>
              </a:ext>
            </a:extLst>
          </p:cNvPr>
          <p:cNvSpPr/>
          <p:nvPr/>
        </p:nvSpPr>
        <p:spPr>
          <a:xfrm>
            <a:off x="4444998" y="1930398"/>
            <a:ext cx="76196" cy="2235195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EC800CD7-295A-451B-8B76-6086314ACE24}"/>
              </a:ext>
            </a:extLst>
          </p:cNvPr>
          <p:cNvSpPr txBox="1"/>
          <p:nvPr/>
        </p:nvSpPr>
        <p:spPr>
          <a:xfrm>
            <a:off x="4724403" y="2209803"/>
            <a:ext cx="2743200" cy="1676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THE SOLUTION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Reconstruct the missing joint angles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and feed them in as part of the input vector to the model.</a:t>
            </a:r>
          </a:p>
        </p:txBody>
      </p:sp>
      <p:sp>
        <p:nvSpPr>
          <p:cNvPr id="11" name="R">
            <a:extLst>
              <a:ext uri="{FF2B5EF4-FFF2-40B4-BE49-F238E27FC236}">
                <a16:creationId xmlns:a16="http://schemas.microsoft.com/office/drawing/2014/main" id="{B1CFC6D0-FBC4-4183-A459-F5EFCEE2B690}"/>
              </a:ext>
            </a:extLst>
          </p:cNvPr>
          <p:cNvSpPr/>
          <p:nvPr/>
        </p:nvSpPr>
        <p:spPr>
          <a:xfrm>
            <a:off x="8128001" y="1930398"/>
            <a:ext cx="3301998" cy="2235195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R">
            <a:extLst>
              <a:ext uri="{FF2B5EF4-FFF2-40B4-BE49-F238E27FC236}">
                <a16:creationId xmlns:a16="http://schemas.microsoft.com/office/drawing/2014/main" id="{EE3B10E0-58E1-4C29-8757-6F1B32F13614}"/>
              </a:ext>
            </a:extLst>
          </p:cNvPr>
          <p:cNvSpPr/>
          <p:nvPr/>
        </p:nvSpPr>
        <p:spPr>
          <a:xfrm>
            <a:off x="8128001" y="1930398"/>
            <a:ext cx="76196" cy="2235195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CE413BE7-C8D5-43F6-9262-D3FCF44025A3}"/>
              </a:ext>
            </a:extLst>
          </p:cNvPr>
          <p:cNvSpPr txBox="1"/>
          <p:nvPr/>
        </p:nvSpPr>
        <p:spPr>
          <a:xfrm>
            <a:off x="8407395" y="2209803"/>
            <a:ext cx="2743200" cy="1676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THE RESULT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The robot actuated — the ant starts walking.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First purposeful motion in the environment.</a:t>
            </a: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3EECCD7F-D66D-4C3D-878F-69F580DE2613}"/>
              </a:ext>
            </a:extLst>
          </p:cNvPr>
          <p:cNvSpPr/>
          <p:nvPr/>
        </p:nvSpPr>
        <p:spPr>
          <a:xfrm>
            <a:off x="761996" y="4470401"/>
            <a:ext cx="5206995" cy="1727201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R">
            <a:extLst>
              <a:ext uri="{FF2B5EF4-FFF2-40B4-BE49-F238E27FC236}">
                <a16:creationId xmlns:a16="http://schemas.microsoft.com/office/drawing/2014/main" id="{BAC16CF5-AB73-416D-AFE0-53FD9875AAA5}"/>
              </a:ext>
            </a:extLst>
          </p:cNvPr>
          <p:cNvSpPr/>
          <p:nvPr/>
        </p:nvSpPr>
        <p:spPr>
          <a:xfrm>
            <a:off x="761996" y="4470401"/>
            <a:ext cx="76196" cy="1727201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3A4D6DB1-881E-4E9A-A596-A2460E75A197}"/>
              </a:ext>
            </a:extLst>
          </p:cNvPr>
          <p:cNvSpPr txBox="1"/>
          <p:nvPr/>
        </p:nvSpPr>
        <p:spPr>
          <a:xfrm>
            <a:off x="1066803" y="4724403"/>
            <a:ext cx="4572000" cy="6349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0.26</a:t>
            </a:r>
          </a:p>
        </p:txBody>
      </p:sp>
      <p:sp>
        <p:nvSpPr>
          <p:cNvPr id="17" name="T">
            <a:extLst>
              <a:ext uri="{FF2B5EF4-FFF2-40B4-BE49-F238E27FC236}">
                <a16:creationId xmlns:a16="http://schemas.microsoft.com/office/drawing/2014/main" id="{AF66A56D-B1FC-4190-9227-ECEEC901B191}"/>
              </a:ext>
            </a:extLst>
          </p:cNvPr>
          <p:cNvSpPr txBox="1"/>
          <p:nvPr/>
        </p:nvSpPr>
        <p:spPr>
          <a:xfrm>
            <a:off x="1066803" y="5435595"/>
            <a:ext cx="4572000" cy="6096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R² before the fix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Poor prediction of the required actions</a:t>
            </a:r>
          </a:p>
        </p:txBody>
      </p:sp>
      <p:sp>
        <p:nvSpPr>
          <p:cNvPr id="18" name="R">
            <a:extLst>
              <a:ext uri="{FF2B5EF4-FFF2-40B4-BE49-F238E27FC236}">
                <a16:creationId xmlns:a16="http://schemas.microsoft.com/office/drawing/2014/main" id="{A96666B2-AEC3-45B1-9A70-7501DE26D41A}"/>
              </a:ext>
            </a:extLst>
          </p:cNvPr>
          <p:cNvSpPr/>
          <p:nvPr/>
        </p:nvSpPr>
        <p:spPr>
          <a:xfrm>
            <a:off x="6223004" y="4470401"/>
            <a:ext cx="5206995" cy="1727201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R">
            <a:extLst>
              <a:ext uri="{FF2B5EF4-FFF2-40B4-BE49-F238E27FC236}">
                <a16:creationId xmlns:a16="http://schemas.microsoft.com/office/drawing/2014/main" id="{EE4055D2-1174-422D-893E-2AB45AA6E385}"/>
              </a:ext>
            </a:extLst>
          </p:cNvPr>
          <p:cNvSpPr/>
          <p:nvPr/>
        </p:nvSpPr>
        <p:spPr>
          <a:xfrm>
            <a:off x="6223004" y="4470401"/>
            <a:ext cx="76196" cy="1727201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">
            <a:extLst>
              <a:ext uri="{FF2B5EF4-FFF2-40B4-BE49-F238E27FC236}">
                <a16:creationId xmlns:a16="http://schemas.microsoft.com/office/drawing/2014/main" id="{D8C6F11C-E604-448A-A3CB-98245DF665A9}"/>
              </a:ext>
            </a:extLst>
          </p:cNvPr>
          <p:cNvSpPr txBox="1"/>
          <p:nvPr/>
        </p:nvSpPr>
        <p:spPr>
          <a:xfrm>
            <a:off x="6527801" y="4724403"/>
            <a:ext cx="4572000" cy="6349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0.88</a:t>
            </a:r>
          </a:p>
        </p:txBody>
      </p:sp>
      <p:sp>
        <p:nvSpPr>
          <p:cNvPr id="21" name="T">
            <a:extLst>
              <a:ext uri="{FF2B5EF4-FFF2-40B4-BE49-F238E27FC236}">
                <a16:creationId xmlns:a16="http://schemas.microsoft.com/office/drawing/2014/main" id="{6DD39655-7FA0-4008-994B-8BD6B4C982A7}"/>
              </a:ext>
            </a:extLst>
          </p:cNvPr>
          <p:cNvSpPr txBox="1"/>
          <p:nvPr/>
        </p:nvSpPr>
        <p:spPr>
          <a:xfrm>
            <a:off x="6527801" y="5435595"/>
            <a:ext cx="4572000" cy="6096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R² after the fix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Dramatic improvement in action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29C18-C547-4A2B-99DE-A94960A2F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The Central Problem: Goal Ambiguity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D1EEE04C-8418-4A57-AFC4-240B909E5132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3557136D-2B51-46C3-A520-8CD72931602B}"/>
              </a:ext>
            </a:extLst>
          </p:cNvPr>
          <p:cNvSpPr/>
          <p:nvPr/>
        </p:nvSpPr>
        <p:spPr>
          <a:xfrm>
            <a:off x="1684215" y="1854202"/>
            <a:ext cx="3386663" cy="3124203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95B92108-E755-41B3-9D6A-BC15B20BF806}"/>
              </a:ext>
            </a:extLst>
          </p:cNvPr>
          <p:cNvSpPr/>
          <p:nvPr/>
        </p:nvSpPr>
        <p:spPr>
          <a:xfrm>
            <a:off x="1684215" y="1854202"/>
            <a:ext cx="76196" cy="3124203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376631F9-4EA5-4401-B01F-C363B50616D0}"/>
              </a:ext>
            </a:extLst>
          </p:cNvPr>
          <p:cNvSpPr txBox="1"/>
          <p:nvPr/>
        </p:nvSpPr>
        <p:spPr>
          <a:xfrm>
            <a:off x="1989012" y="2133596"/>
            <a:ext cx="2777069" cy="254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LOW UNIQUENESS</a:t>
            </a: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C998DF79-B850-4959-B6AF-F33671E77132}"/>
              </a:ext>
            </a:extLst>
          </p:cNvPr>
          <p:cNvSpPr txBox="1"/>
          <p:nvPr/>
        </p:nvSpPr>
        <p:spPr>
          <a:xfrm>
            <a:off x="1989012" y="2489197"/>
            <a:ext cx="2777069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One scan is not an address</a:t>
            </a: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1EE46166-9671-4D63-901A-9A4B0C3E5333}"/>
              </a:ext>
            </a:extLst>
          </p:cNvPr>
          <p:cNvSpPr txBox="1"/>
          <p:nvPr/>
        </p:nvSpPr>
        <p:spPr>
          <a:xfrm>
            <a:off x="1989012" y="2997202"/>
            <a:ext cx="2777069" cy="17526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In a maze of long, self-similar corridors, a single LiDAR scan taken from the goal cell is not unique. different cells produce an almost identical scan.</a:t>
            </a: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A22BF50E-2E0D-48F3-B8D9-4228F6AE831D}"/>
              </a:ext>
            </a:extLst>
          </p:cNvPr>
          <p:cNvSpPr/>
          <p:nvPr/>
        </p:nvSpPr>
        <p:spPr>
          <a:xfrm>
            <a:off x="6667823" y="1854202"/>
            <a:ext cx="3386663" cy="3124203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EE62F287-5C79-44CD-8CDD-5FAAFFFC82FB}"/>
              </a:ext>
            </a:extLst>
          </p:cNvPr>
          <p:cNvSpPr/>
          <p:nvPr/>
        </p:nvSpPr>
        <p:spPr>
          <a:xfrm>
            <a:off x="6667823" y="1854202"/>
            <a:ext cx="76196" cy="3124203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33CC3FAA-FEB4-4C0E-97E2-B013DF4C213D}"/>
              </a:ext>
            </a:extLst>
          </p:cNvPr>
          <p:cNvSpPr txBox="1"/>
          <p:nvPr/>
        </p:nvSpPr>
        <p:spPr>
          <a:xfrm>
            <a:off x="6972629" y="2133596"/>
            <a:ext cx="2777069" cy="254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SIGNAL, NOT SKILL</a:t>
            </a: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B50AFE26-09A0-4A72-9CE9-6366B2D78949}"/>
              </a:ext>
            </a:extLst>
          </p:cNvPr>
          <p:cNvSpPr txBox="1"/>
          <p:nvPr/>
        </p:nvSpPr>
        <p:spPr>
          <a:xfrm>
            <a:off x="6972629" y="2489197"/>
            <a:ext cx="2777069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The ability is there</a:t>
            </a: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34BB4DC7-FFAA-47CF-A141-CF75D16F0386}"/>
              </a:ext>
            </a:extLst>
          </p:cNvPr>
          <p:cNvSpPr txBox="1"/>
          <p:nvPr/>
        </p:nvSpPr>
        <p:spPr>
          <a:xfrm>
            <a:off x="6972629" y="2997202"/>
            <a:ext cx="2777069" cy="17526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when the top-scoring plan happens to sit in the right cell, routing is correct. It just is not reliable.</a:t>
            </a: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D7976261-06A2-4C4B-AD6E-5ED6C17C269F}"/>
              </a:ext>
            </a:extLst>
          </p:cNvPr>
          <p:cNvSpPr/>
          <p:nvPr/>
        </p:nvSpPr>
        <p:spPr>
          <a:xfrm>
            <a:off x="761996" y="5257800"/>
            <a:ext cx="10668003" cy="914400"/>
          </a:xfrm>
          <a:prstGeom prst="rect">
            <a:avLst/>
          </a:prstGeom>
          <a:solidFill>
            <a:srgbClr val="E0E0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FD818C3D-CDB5-4C92-A798-40CA6EF0234A}"/>
              </a:ext>
            </a:extLst>
          </p:cNvPr>
          <p:cNvSpPr txBox="1"/>
          <p:nvPr/>
        </p:nvSpPr>
        <p:spPr>
          <a:xfrm>
            <a:off x="1066803" y="5486400"/>
            <a:ext cx="10058400" cy="558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Diagnosis: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the bottleneck is the representation of the goal and the movement of the ant, not the planner's capacity to produce a route.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EF02-0E64-4DA6-8C30-EB4CE57168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Goal Ambiguity Visualization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6FDE6752-4FAF-450A-961B-44950DAC5AA5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B9FB860-01DC-4861-B57B-A6DD50ED7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47" y="1587087"/>
            <a:ext cx="11339547" cy="476290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E491-DC06-4381-943D-00104207E6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Attempted Fix: Multi-Scan Goal</a:t>
            </a:r>
            <a:endParaRPr lang="en-IL" sz="3200" b="1">
              <a:solidFill>
                <a:srgbClr val="1B1B27"/>
              </a:solidFill>
            </a:endParaRP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AF48D44A-E54B-4039-B29B-2FFF13B2C99B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">
            <a:extLst>
              <a:ext uri="{FF2B5EF4-FFF2-40B4-BE49-F238E27FC236}">
                <a16:creationId xmlns:a16="http://schemas.microsoft.com/office/drawing/2014/main" id="{49B43FF8-7D8F-4A14-8EED-55B9F7C24F5E}"/>
              </a:ext>
            </a:extLst>
          </p:cNvPr>
          <p:cNvSpPr txBox="1"/>
          <p:nvPr/>
        </p:nvSpPr>
        <p:spPr>
          <a:xfrm>
            <a:off x="761996" y="1397002"/>
            <a:ext cx="10668003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Replace the single goal scan with a short approach sequence — retraining succeeded, the maze still did not get solved</a:t>
            </a: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6E43A26C-8071-4C04-9D2B-8F947FDB0BB2}"/>
              </a:ext>
            </a:extLst>
          </p:cNvPr>
          <p:cNvSpPr/>
          <p:nvPr/>
        </p:nvSpPr>
        <p:spPr>
          <a:xfrm>
            <a:off x="761996" y="2031997"/>
            <a:ext cx="10668003" cy="1270001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R">
            <a:extLst>
              <a:ext uri="{FF2B5EF4-FFF2-40B4-BE49-F238E27FC236}">
                <a16:creationId xmlns:a16="http://schemas.microsoft.com/office/drawing/2014/main" id="{41201000-8349-405F-B6C6-21AB3E905C24}"/>
              </a:ext>
            </a:extLst>
          </p:cNvPr>
          <p:cNvSpPr/>
          <p:nvPr/>
        </p:nvSpPr>
        <p:spPr>
          <a:xfrm>
            <a:off x="761996" y="2031997"/>
            <a:ext cx="76196" cy="1270001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E9FA6642-ECAE-458A-B1F6-F6FA4A7CDC0B}"/>
              </a:ext>
            </a:extLst>
          </p:cNvPr>
          <p:cNvSpPr txBox="1"/>
          <p:nvPr/>
        </p:nvSpPr>
        <p:spPr>
          <a:xfrm>
            <a:off x="1066803" y="2540002"/>
            <a:ext cx="2667003" cy="3047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THE IDEA</a:t>
            </a: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A2EBD79C-88FB-4440-833B-A62327CB3BBB}"/>
              </a:ext>
            </a:extLst>
          </p:cNvPr>
          <p:cNvSpPr txBox="1"/>
          <p:nvPr/>
        </p:nvSpPr>
        <p:spPr>
          <a:xfrm>
            <a:off x="4013201" y="2387598"/>
            <a:ext cx="7112002" cy="761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Replace the single goal scan with a short sequence of K scans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taken as the agent approaches the goal.</a:t>
            </a: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F4F4E113-C27C-4AD3-8218-A39031AD2FC6}"/>
              </a:ext>
            </a:extLst>
          </p:cNvPr>
          <p:cNvSpPr/>
          <p:nvPr/>
        </p:nvSpPr>
        <p:spPr>
          <a:xfrm>
            <a:off x="761996" y="3505196"/>
            <a:ext cx="10668003" cy="1270001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961152A4-D904-4CD6-8D4F-AA0FA72D66B0}"/>
              </a:ext>
            </a:extLst>
          </p:cNvPr>
          <p:cNvSpPr/>
          <p:nvPr/>
        </p:nvSpPr>
        <p:spPr>
          <a:xfrm>
            <a:off x="761996" y="3505196"/>
            <a:ext cx="76196" cy="1270001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072185B4-FCB6-4805-B2B6-C039374FCD28}"/>
              </a:ext>
            </a:extLst>
          </p:cNvPr>
          <p:cNvSpPr txBox="1"/>
          <p:nvPr/>
        </p:nvSpPr>
        <p:spPr>
          <a:xfrm>
            <a:off x="1066803" y="4013201"/>
            <a:ext cx="2667003" cy="3047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THEORETICAL ADVANTAGE</a:t>
            </a: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B85B34AC-EF6A-4CA2-A219-78D1AF8F43E2}"/>
              </a:ext>
            </a:extLst>
          </p:cNvPr>
          <p:cNvSpPr txBox="1"/>
          <p:nvPr/>
        </p:nvSpPr>
        <p:spPr>
          <a:xfrm>
            <a:off x="4013201" y="3860797"/>
            <a:ext cx="7112002" cy="761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The approach sequence encodes spatial context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— which should have resolved the goal-representation ambiguity.</a:t>
            </a:r>
          </a:p>
        </p:txBody>
      </p:sp>
      <p:sp>
        <p:nvSpPr>
          <p:cNvPr id="13" name="R">
            <a:extLst>
              <a:ext uri="{FF2B5EF4-FFF2-40B4-BE49-F238E27FC236}">
                <a16:creationId xmlns:a16="http://schemas.microsoft.com/office/drawing/2014/main" id="{77AB654B-A6A9-4C9D-B071-0A021A575FC2}"/>
              </a:ext>
            </a:extLst>
          </p:cNvPr>
          <p:cNvSpPr/>
          <p:nvPr/>
        </p:nvSpPr>
        <p:spPr>
          <a:xfrm>
            <a:off x="761996" y="4978395"/>
            <a:ext cx="10668003" cy="1270001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F9E07433-A278-45F2-90E1-FB8AF39B24AA}"/>
              </a:ext>
            </a:extLst>
          </p:cNvPr>
          <p:cNvSpPr/>
          <p:nvPr/>
        </p:nvSpPr>
        <p:spPr>
          <a:xfrm>
            <a:off x="761996" y="4978395"/>
            <a:ext cx="76196" cy="1270001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A8DB8AA6-AF51-4911-8E75-941E60A6361B}"/>
              </a:ext>
            </a:extLst>
          </p:cNvPr>
          <p:cNvSpPr txBox="1"/>
          <p:nvPr/>
        </p:nvSpPr>
        <p:spPr>
          <a:xfrm>
            <a:off x="1066803" y="5486400"/>
            <a:ext cx="2667003" cy="3047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THE ACTUAL RESULT</a:t>
            </a: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F7B3DDEE-7F8D-4533-9177-EB848D0AFEB7}"/>
              </a:ext>
            </a:extLst>
          </p:cNvPr>
          <p:cNvSpPr txBox="1"/>
          <p:nvPr/>
        </p:nvSpPr>
        <p:spPr>
          <a:xfrm>
            <a:off x="4013201" y="5333996"/>
            <a:ext cx="7112002" cy="761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Retraining went through successfully,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but the robot still failed to solve the maze.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723D-505F-4381-8D71-C2BE161621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/>
              <a:t>First Success!</a:t>
            </a:r>
            <a:endParaRPr lang="en-IL"/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85F67049-3B72-4E89-9F73-38F2B6ECE08A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">
            <a:extLst>
              <a:ext uri="{FF2B5EF4-FFF2-40B4-BE49-F238E27FC236}">
                <a16:creationId xmlns:a16="http://schemas.microsoft.com/office/drawing/2014/main" id="{9890BF5C-047D-4209-8B4F-893AFA40FDE7}"/>
              </a:ext>
            </a:extLst>
          </p:cNvPr>
          <p:cNvSpPr txBox="1"/>
          <p:nvPr/>
        </p:nvSpPr>
        <p:spPr>
          <a:xfrm>
            <a:off x="761996" y="1397002"/>
            <a:ext cx="10668003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A 3-D (x, y, θ) localization grid over the maze led to the first end-to-end success</a:t>
            </a: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40604B52-2C1A-42C8-AE9C-63B3679F90CD}"/>
              </a:ext>
            </a:extLst>
          </p:cNvPr>
          <p:cNvSpPr/>
          <p:nvPr/>
        </p:nvSpPr>
        <p:spPr>
          <a:xfrm>
            <a:off x="761996" y="1930398"/>
            <a:ext cx="4444998" cy="4267203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R">
            <a:extLst>
              <a:ext uri="{FF2B5EF4-FFF2-40B4-BE49-F238E27FC236}">
                <a16:creationId xmlns:a16="http://schemas.microsoft.com/office/drawing/2014/main" id="{23CF8B6D-12D2-4A4D-ADE6-FC08A67F0E06}"/>
              </a:ext>
            </a:extLst>
          </p:cNvPr>
          <p:cNvSpPr/>
          <p:nvPr/>
        </p:nvSpPr>
        <p:spPr>
          <a:xfrm>
            <a:off x="761996" y="1930398"/>
            <a:ext cx="76196" cy="4267203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946D5ECA-3B70-4B18-8FEF-EEC21A3D19F6}"/>
              </a:ext>
            </a:extLst>
          </p:cNvPr>
          <p:cNvSpPr txBox="1"/>
          <p:nvPr/>
        </p:nvSpPr>
        <p:spPr>
          <a:xfrm>
            <a:off x="1066803" y="2209803"/>
            <a:ext cx="3886200" cy="2616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WHAT MADE IT WORK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We built a 3-D grid over (x, y, θ): one copy of the map per heading, stored as rows × columns × orientations.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Headings sit about 30° apart to match the scan data, and the grid resolution keeps a run to a few minutes. </a:t>
            </a:r>
          </a:p>
        </p:txBody>
      </p:sp>
      <p:sp>
        <p:nvSpPr>
          <p:cNvPr id="8" name="R">
            <a:extLst>
              <a:ext uri="{FF2B5EF4-FFF2-40B4-BE49-F238E27FC236}">
                <a16:creationId xmlns:a16="http://schemas.microsoft.com/office/drawing/2014/main" id="{850BA030-9777-442C-BD78-B7F0A8445FA4}"/>
              </a:ext>
            </a:extLst>
          </p:cNvPr>
          <p:cNvSpPr/>
          <p:nvPr/>
        </p:nvSpPr>
        <p:spPr>
          <a:xfrm>
            <a:off x="1066803" y="4927601"/>
            <a:ext cx="3835395" cy="12701"/>
          </a:xfrm>
          <a:prstGeom prst="rect">
            <a:avLst/>
          </a:prstGeom>
          <a:solidFill>
            <a:srgbClr val="E2E2E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67F5FBDD-E85F-43CA-89F4-BEE18C4B845E}"/>
              </a:ext>
            </a:extLst>
          </p:cNvPr>
          <p:cNvSpPr txBox="1"/>
          <p:nvPr/>
        </p:nvSpPr>
        <p:spPr>
          <a:xfrm>
            <a:off x="1066803" y="5054602"/>
            <a:ext cx="3886200" cy="6096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0% → ~10%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0D584563-B768-4498-9DC9-A9D2EF206F9E}"/>
              </a:ext>
            </a:extLst>
          </p:cNvPr>
          <p:cNvSpPr txBox="1"/>
          <p:nvPr/>
        </p:nvSpPr>
        <p:spPr>
          <a:xfrm>
            <a:off x="1066803" y="5715000"/>
            <a:ext cx="3886200" cy="3047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End-to-end success rate, AntMaze Giant</a:t>
            </a:r>
          </a:p>
        </p:txBody>
      </p:sp>
      <p:pic>
        <p:nvPicPr>
          <p:cNvPr id="11" name="ep12">
            <a:extLst>
              <a:ext uri="{FF2B5EF4-FFF2-40B4-BE49-F238E27FC236}">
                <a16:creationId xmlns:a16="http://schemas.microsoft.com/office/drawing/2014/main" id="{33A37F85-AA1C-4482-92A8-96EE4C2BA93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27060" y="1930398"/>
            <a:ext cx="3273231" cy="388696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video>
            <p:seq concurrent="1" nextAc="seek">
              <p:cTn id="8" dur="indefinit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childTnLst>
                  <p:par>
                    <p:cTn id="9" fill="hold">
                      <p:stCondLst>
                        <p:cond evt="onBegin" delay="0">
                          <p:tn val="8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9118F-843B-4950-87AF-875A1BB3CE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Lifting The Success Rate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F8D5D18-F475-41E6-8B4E-1C0D75D2F49E}"/>
              </a:ext>
            </a:extLst>
          </p:cNvPr>
          <p:cNvGraphicFramePr>
            <a:graphicFrameLocks noGrp="1"/>
          </p:cNvGraphicFramePr>
          <p:nvPr/>
        </p:nvGraphicFramePr>
        <p:xfrm>
          <a:off x="761996" y="1904996"/>
          <a:ext cx="10668003" cy="369485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413001">
                  <a:extLst>
                    <a:ext uri="{9D8B030D-6E8A-4147-A177-3AD203B41FA5}">
                      <a16:colId xmlns:a16="http://schemas.microsoft.com/office/drawing/2014/main" val="2901772727"/>
                    </a:ext>
                  </a:extLst>
                </a:gridCol>
                <a:gridCol w="5333996">
                  <a:extLst>
                    <a:ext uri="{9D8B030D-6E8A-4147-A177-3AD203B41FA5}">
                      <a16:colId xmlns:a16="http://schemas.microsoft.com/office/drawing/2014/main" val="3109979424"/>
                    </a:ext>
                  </a:extLst>
                </a:gridCol>
                <a:gridCol w="2920995">
                  <a:extLst>
                    <a:ext uri="{9D8B030D-6E8A-4147-A177-3AD203B41FA5}">
                      <a16:colId xmlns:a16="http://schemas.microsoft.com/office/drawing/2014/main" val="636092311"/>
                    </a:ext>
                  </a:extLst>
                </a:gridCol>
              </a:tblGrid>
              <a:tr h="592668">
                <a:tc>
                  <a:txBody>
                    <a:bodyPr/>
                    <a:lstStyle/>
                    <a:p>
                      <a:pPr lvl="0" algn="l"/>
                      <a:r>
                        <a:rPr lang="en-IL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Change</a:t>
                      </a:r>
                    </a:p>
                  </a:txBody>
                  <a:tcPr anchor="ctr"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What it did</a:t>
                      </a:r>
                    </a:p>
                  </a:txBody>
                  <a:tcPr anchor="ctr"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Result</a:t>
                      </a:r>
                    </a:p>
                  </a:txBody>
                  <a:tcPr anchor="ctr">
                    <a:solidFill>
                      <a:srgbClr val="1B1B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74935"/>
                  </a:ext>
                </a:extLst>
              </a:tr>
              <a:tr h="592668">
                <a:tc>
                  <a:txBody>
                    <a:bodyPr/>
                    <a:lstStyle/>
                    <a:p>
                      <a:pPr lvl="0" algn="l"/>
                      <a:r>
                        <a:rPr lang="en-IL" sz="14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Verify and hop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400" b="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Use the ranked candidate list as a fallback plan instead of committing to one guess.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400" b="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2 / 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254239"/>
                  </a:ext>
                </a:extLst>
              </a:tr>
              <a:tr h="592668">
                <a:tc>
                  <a:txBody>
                    <a:bodyPr/>
                    <a:lstStyle/>
                    <a:p>
                      <a:pPr lvl="0" algn="l"/>
                      <a:r>
                        <a:rPr lang="en-IL" sz="14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Scanning every 10°</a:t>
                      </a:r>
                    </a:p>
                  </a:txBody>
                  <a:tcPr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400" b="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36 orientation bins instead of 12, to recognise the goal cell more often.</a:t>
                      </a:r>
                    </a:p>
                  </a:txBody>
                  <a:tcPr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400" b="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Worse — 65% of true cells missed the list entirely</a:t>
                      </a:r>
                    </a:p>
                  </a:txBody>
                  <a:tcPr anchor="ctr"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528918"/>
                  </a:ext>
                </a:extLst>
              </a:tr>
              <a:tr h="592668">
                <a:tc>
                  <a:txBody>
                    <a:bodyPr/>
                    <a:lstStyle/>
                    <a:p>
                      <a:pPr lvl="0" algn="l"/>
                      <a:r>
                        <a:rPr lang="en-IL" sz="14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Better ant movement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400" b="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When the ant is stuck in place, head for the most open direction and replan.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400" b="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4 / 20 — slight improvement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141385"/>
                  </a:ext>
                </a:extLst>
              </a:tr>
              <a:tr h="592668">
                <a:tc>
                  <a:txBody>
                    <a:bodyPr/>
                    <a:lstStyle/>
                    <a:p>
                      <a:pPr lvl="0" algn="l"/>
                      <a:r>
                        <a:rPr lang="en-IL" sz="14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Fixed goal-cell localization</a:t>
                      </a:r>
                    </a:p>
                  </a:txBody>
                  <a:tcPr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400" b="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Deduce the goal cell from 12 scans at the true goal and compare it against every other cell (MSE-like), instead of from an approach sequence.</a:t>
                      </a:r>
                    </a:p>
                  </a:txBody>
                  <a:tcPr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sz="1400" b="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50% with orientation, 39% without</a:t>
                      </a:r>
                      <a:endParaRPr lang="en-IL" sz="1400" b="0">
                        <a:solidFill>
                          <a:srgbClr val="3B3939"/>
                        </a:solidFill>
                        <a:latin typeface="Segoe UI"/>
                        <a:cs typeface="Segoe UI"/>
                      </a:endParaRPr>
                    </a:p>
                  </a:txBody>
                  <a:tcPr anchor="ctr"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447379"/>
                  </a:ext>
                </a:extLst>
              </a:tr>
              <a:tr h="592668">
                <a:tc>
                  <a:txBody>
                    <a:bodyPr/>
                    <a:lstStyle/>
                    <a:p>
                      <a:pPr lvl="0" algn="l"/>
                      <a:r>
                        <a:rPr lang="en-IL" sz="14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Less replanning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400" b="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Replan only when needed, instead of unconditionally every 500 steps.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sz="1400" b="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46% </a:t>
                      </a:r>
                      <a:r>
                        <a:rPr lang="en-IL" sz="1400" b="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— slightly worse; 4,500 → 4,000 steps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0210"/>
                  </a:ext>
                </a:extLst>
              </a:tr>
            </a:tbl>
          </a:graphicData>
        </a:graphic>
      </p:graphicFrame>
      <p:sp>
        <p:nvSpPr>
          <p:cNvPr id="4" name="R">
            <a:extLst>
              <a:ext uri="{FF2B5EF4-FFF2-40B4-BE49-F238E27FC236}">
                <a16:creationId xmlns:a16="http://schemas.microsoft.com/office/drawing/2014/main" id="{E9BB29D1-DB46-4ECA-AD26-892F8FCACBD1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8564D54A-C92C-439E-B44B-6CE7BD2E2206}"/>
              </a:ext>
            </a:extLst>
          </p:cNvPr>
          <p:cNvSpPr txBox="1"/>
          <p:nvPr/>
        </p:nvSpPr>
        <p:spPr>
          <a:xfrm>
            <a:off x="761996" y="1397002"/>
            <a:ext cx="10668003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Target: lift the success rate from 10% toward the 60% of the original (x,y) diffuser</a:t>
            </a:r>
          </a:p>
        </p:txBody>
      </p:sp>
      <p:sp>
        <p:nvSpPr>
          <p:cNvPr id="6" name="R">
            <a:extLst>
              <a:ext uri="{FF2B5EF4-FFF2-40B4-BE49-F238E27FC236}">
                <a16:creationId xmlns:a16="http://schemas.microsoft.com/office/drawing/2014/main" id="{F532A39F-40B0-4939-9378-4594FA599811}"/>
              </a:ext>
            </a:extLst>
          </p:cNvPr>
          <p:cNvSpPr/>
          <p:nvPr/>
        </p:nvSpPr>
        <p:spPr>
          <a:xfrm>
            <a:off x="761996" y="5740402"/>
            <a:ext cx="10668003" cy="660397"/>
          </a:xfrm>
          <a:prstGeom prst="rect">
            <a:avLst/>
          </a:prstGeom>
          <a:solidFill>
            <a:srgbClr val="E0E0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53DD2FBA-627B-4907-B46E-DA194B942DEA}"/>
              </a:ext>
            </a:extLst>
          </p:cNvPr>
          <p:cNvSpPr txBox="1"/>
          <p:nvPr/>
        </p:nvSpPr>
        <p:spPr>
          <a:xfrm>
            <a:off x="1066803" y="5943600"/>
            <a:ext cx="10058400" cy="3047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Net effect: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the goal-cell fix carried almost all of the gain — 10% to ≈39%/50%; every other knob was flat or negative.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5E4D0-5E73-45E5-BC41-BC95C63142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Candidate List After Fixed goal-cell Localization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B610D294-E1E2-475A-B081-444950D700E1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2DD92BC-87D5-44E1-92FB-E8A6434AA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92355" y="1537033"/>
            <a:ext cx="4845414" cy="45732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>
            <a:extLst>
              <a:ext uri="{FF2B5EF4-FFF2-40B4-BE49-F238E27FC236}">
                <a16:creationId xmlns:a16="http://schemas.microsoft.com/office/drawing/2014/main" id="{44B88BAB-29C5-45CE-9D99-69E6834ACAC4}"/>
              </a:ext>
            </a:extLst>
          </p:cNvPr>
          <p:cNvSpPr/>
          <p:nvPr/>
        </p:nvSpPr>
        <p:spPr>
          <a:xfrm>
            <a:off x="7619996" y="0"/>
            <a:ext cx="4572000" cy="6858000"/>
          </a:xfrm>
          <a:prstGeom prst="rect">
            <a:avLst/>
          </a:prstGeom>
          <a:solidFill>
            <a:srgbClr val="E0E0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A46A4E7-C74C-48BD-8A2A-84484E459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2641601"/>
            <a:ext cx="5969002" cy="1397002"/>
          </a:xfrm>
        </p:spPr>
        <p:txBody>
          <a:bodyPr/>
          <a:lstStyle/>
          <a:p>
            <a:pPr lvl="0"/>
            <a:r>
              <a:rPr lang="en-US" sz="4000" b="1">
                <a:solidFill>
                  <a:srgbClr val="1B1B27"/>
                </a:solidFill>
              </a:rPr>
              <a:t>Ant Aftermath</a:t>
            </a:r>
          </a:p>
        </p:txBody>
      </p:sp>
      <p:sp>
        <p:nvSpPr>
          <p:cNvPr id="4" name="Bar">
            <a:extLst>
              <a:ext uri="{FF2B5EF4-FFF2-40B4-BE49-F238E27FC236}">
                <a16:creationId xmlns:a16="http://schemas.microsoft.com/office/drawing/2014/main" id="{1F011AAD-7CD5-4D7B-9205-B9C61958F0AC}"/>
              </a:ext>
            </a:extLst>
          </p:cNvPr>
          <p:cNvSpPr/>
          <p:nvPr/>
        </p:nvSpPr>
        <p:spPr>
          <a:xfrm>
            <a:off x="761996" y="2387598"/>
            <a:ext cx="914400" cy="50804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Num">
            <a:extLst>
              <a:ext uri="{FF2B5EF4-FFF2-40B4-BE49-F238E27FC236}">
                <a16:creationId xmlns:a16="http://schemas.microsoft.com/office/drawing/2014/main" id="{6CD3671A-ACD5-454F-88BF-8CC57CD9A6D2}"/>
              </a:ext>
            </a:extLst>
          </p:cNvPr>
          <p:cNvSpPr txBox="1"/>
          <p:nvPr/>
        </p:nvSpPr>
        <p:spPr>
          <a:xfrm>
            <a:off x="8178795" y="2692395"/>
            <a:ext cx="3047996" cy="1524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300" baseline="0">
                <a:solidFill>
                  <a:srgbClr val="6C6C7E"/>
                </a:solidFill>
                <a:uFillTx/>
                <a:latin typeface="Calibri"/>
              </a:rPr>
              <a:t>SECTION 02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Ant aftermath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BE87028-F588-434D-BC39-E9D5CC14C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8148-0070-44E9-8AB5-AD07FEC897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Example of a few runs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2F77BFA9-CD1E-43B9-893E-B0F7327FC986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2C6950C9-1C15-4285-B31C-D2F690DE68FA}"/>
              </a:ext>
            </a:extLst>
          </p:cNvPr>
          <p:cNvSpPr/>
          <p:nvPr/>
        </p:nvSpPr>
        <p:spPr>
          <a:xfrm>
            <a:off x="761996" y="1854202"/>
            <a:ext cx="4753279" cy="1881204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2C92EB5A-070E-4A05-B82B-2BB63BD3EE22}"/>
              </a:ext>
            </a:extLst>
          </p:cNvPr>
          <p:cNvSpPr/>
          <p:nvPr/>
        </p:nvSpPr>
        <p:spPr>
          <a:xfrm>
            <a:off x="761996" y="1854202"/>
            <a:ext cx="45720" cy="1881204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33CF1A2F-B7C2-4CC8-9A4B-941AC449CF46}"/>
              </a:ext>
            </a:extLst>
          </p:cNvPr>
          <p:cNvSpPr txBox="1"/>
          <p:nvPr/>
        </p:nvSpPr>
        <p:spPr>
          <a:xfrm>
            <a:off x="1066803" y="2229316"/>
            <a:ext cx="4597402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aliasing</a:t>
            </a: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22F6D99A-756A-439B-A40A-011AF1DE324F}"/>
              </a:ext>
            </a:extLst>
          </p:cNvPr>
          <p:cNvSpPr txBox="1"/>
          <p:nvPr/>
        </p:nvSpPr>
        <p:spPr>
          <a:xfrm>
            <a:off x="1066803" y="2727655"/>
            <a:ext cx="4402753" cy="26923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In this batch of runs, most of the time the first contender was aliased to a different similar cell.</a:t>
            </a:r>
          </a:p>
        </p:txBody>
      </p:sp>
      <p:pic>
        <p:nvPicPr>
          <p:cNvPr id="8" name="ep8_True">
            <a:extLst>
              <a:ext uri="{FF2B5EF4-FFF2-40B4-BE49-F238E27FC236}">
                <a16:creationId xmlns:a16="http://schemas.microsoft.com/office/drawing/2014/main" id="{E2926778-91AA-4D8E-9BA4-7755BF412A4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41733" y="4110520"/>
            <a:ext cx="1951036" cy="2316166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9" name="Group 22">
            <a:extLst>
              <a:ext uri="{FF2B5EF4-FFF2-40B4-BE49-F238E27FC236}">
                <a16:creationId xmlns:a16="http://schemas.microsoft.com/office/drawing/2014/main" id="{1A6E4F6D-67CB-4B6E-9EA4-7FF100821451}"/>
              </a:ext>
            </a:extLst>
          </p:cNvPr>
          <p:cNvGrpSpPr/>
          <p:nvPr/>
        </p:nvGrpSpPr>
        <p:grpSpPr>
          <a:xfrm>
            <a:off x="6926323" y="1282702"/>
            <a:ext cx="4325752" cy="4922516"/>
            <a:chOff x="6926323" y="1282702"/>
            <a:chExt cx="4325752" cy="4922516"/>
          </a:xfrm>
        </p:grpSpPr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F0D97FD4-AC77-447D-98CF-7A7BFABE7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26323" y="1282702"/>
              <a:ext cx="4325752" cy="492251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73D8D1CA-5FC7-412B-BB58-0BA6957B559E}"/>
                </a:ext>
              </a:extLst>
            </p:cNvPr>
            <p:cNvSpPr/>
            <p:nvPr/>
          </p:nvSpPr>
          <p:spPr>
            <a:xfrm>
              <a:off x="7943200" y="1837669"/>
              <a:ext cx="173900" cy="1145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57150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L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2" name="Oval 13">
              <a:extLst>
                <a:ext uri="{FF2B5EF4-FFF2-40B4-BE49-F238E27FC236}">
                  <a16:creationId xmlns:a16="http://schemas.microsoft.com/office/drawing/2014/main" id="{B50FB8C4-A2E1-45B4-A96F-FD20E88A62D5}"/>
                </a:ext>
              </a:extLst>
            </p:cNvPr>
            <p:cNvSpPr/>
            <p:nvPr/>
          </p:nvSpPr>
          <p:spPr>
            <a:xfrm>
              <a:off x="7610313" y="1367704"/>
              <a:ext cx="173900" cy="1145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57150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L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BB23D90B-B8AC-4B7C-910D-FB8402B3B945}"/>
                </a:ext>
              </a:extLst>
            </p:cNvPr>
            <p:cNvSpPr/>
            <p:nvPr/>
          </p:nvSpPr>
          <p:spPr>
            <a:xfrm>
              <a:off x="8818199" y="1501700"/>
              <a:ext cx="173900" cy="1145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57150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L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32A7F91C-823F-4F36-9C1A-B4BDFA1FD4F7}"/>
                </a:ext>
              </a:extLst>
            </p:cNvPr>
            <p:cNvSpPr/>
            <p:nvPr/>
          </p:nvSpPr>
          <p:spPr>
            <a:xfrm>
              <a:off x="9512942" y="2233284"/>
              <a:ext cx="173900" cy="1145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57150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L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097E1C48-EE45-4A1C-9040-AF20EE0A7A47}"/>
                </a:ext>
              </a:extLst>
            </p:cNvPr>
            <p:cNvSpPr/>
            <p:nvPr/>
          </p:nvSpPr>
          <p:spPr>
            <a:xfrm>
              <a:off x="10531364" y="1512051"/>
              <a:ext cx="173900" cy="1145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57150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L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6" name="Oval 17">
              <a:extLst>
                <a:ext uri="{FF2B5EF4-FFF2-40B4-BE49-F238E27FC236}">
                  <a16:creationId xmlns:a16="http://schemas.microsoft.com/office/drawing/2014/main" id="{F6122C9A-9683-440A-A850-C84CFEF40156}"/>
                </a:ext>
              </a:extLst>
            </p:cNvPr>
            <p:cNvSpPr/>
            <p:nvPr/>
          </p:nvSpPr>
          <p:spPr>
            <a:xfrm>
              <a:off x="7610313" y="3811356"/>
              <a:ext cx="173900" cy="1145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57150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L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D3DD1DCE-B9E4-426E-8DBB-32037120A328}"/>
                </a:ext>
              </a:extLst>
            </p:cNvPr>
            <p:cNvSpPr/>
            <p:nvPr/>
          </p:nvSpPr>
          <p:spPr>
            <a:xfrm>
              <a:off x="8478289" y="3824816"/>
              <a:ext cx="173900" cy="1145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57150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L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76CD36CA-51A2-4261-BA73-5BA07D9217DE}"/>
                </a:ext>
              </a:extLst>
            </p:cNvPr>
            <p:cNvSpPr/>
            <p:nvPr/>
          </p:nvSpPr>
          <p:spPr>
            <a:xfrm>
              <a:off x="9344244" y="3824816"/>
              <a:ext cx="173900" cy="1145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57150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L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3AA0D7E3-16DC-4C41-994E-21B968FDE457}"/>
                </a:ext>
              </a:extLst>
            </p:cNvPr>
            <p:cNvSpPr/>
            <p:nvPr/>
          </p:nvSpPr>
          <p:spPr>
            <a:xfrm>
              <a:off x="9512942" y="4308707"/>
              <a:ext cx="173900" cy="1145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57150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L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D1A3F8DF-2F22-49EE-B277-561D398EBAFE}"/>
                </a:ext>
              </a:extLst>
            </p:cNvPr>
            <p:cNvSpPr/>
            <p:nvPr/>
          </p:nvSpPr>
          <p:spPr>
            <a:xfrm>
              <a:off x="10380918" y="4307427"/>
              <a:ext cx="173900" cy="1145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57150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L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  <p:grpSp>
        <p:nvGrpSpPr>
          <p:cNvPr id="21" name="Group 26">
            <a:extLst>
              <a:ext uri="{FF2B5EF4-FFF2-40B4-BE49-F238E27FC236}">
                <a16:creationId xmlns:a16="http://schemas.microsoft.com/office/drawing/2014/main" id="{3F4D1E7B-AB1C-42C1-B82C-5079DE477DF0}"/>
              </a:ext>
            </a:extLst>
          </p:cNvPr>
          <p:cNvGrpSpPr/>
          <p:nvPr/>
        </p:nvGrpSpPr>
        <p:grpSpPr>
          <a:xfrm>
            <a:off x="7979017" y="6275673"/>
            <a:ext cx="4023689" cy="369335"/>
            <a:chOff x="7979017" y="6275673"/>
            <a:chExt cx="4023689" cy="369335"/>
          </a:xfrm>
        </p:grpSpPr>
        <p:sp>
          <p:nvSpPr>
            <p:cNvPr id="22" name="TextBox 23">
              <a:extLst>
                <a:ext uri="{FF2B5EF4-FFF2-40B4-BE49-F238E27FC236}">
                  <a16:creationId xmlns:a16="http://schemas.microsoft.com/office/drawing/2014/main" id="{25CB3F00-C887-4FBA-9C0C-7C65BC24F086}"/>
                </a:ext>
              </a:extLst>
            </p:cNvPr>
            <p:cNvSpPr txBox="1"/>
            <p:nvPr/>
          </p:nvSpPr>
          <p:spPr>
            <a:xfrm>
              <a:off x="8065977" y="6275673"/>
              <a:ext cx="3936729" cy="36933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alibri"/>
                </a:rPr>
                <a:t> - the first contender</a:t>
              </a:r>
              <a:endParaRPr lang="en-IL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endParaRPr>
            </a:p>
          </p:txBody>
        </p:sp>
        <p:sp>
          <p:nvSpPr>
            <p:cNvPr id="23" name="Oval 25">
              <a:extLst>
                <a:ext uri="{FF2B5EF4-FFF2-40B4-BE49-F238E27FC236}">
                  <a16:creationId xmlns:a16="http://schemas.microsoft.com/office/drawing/2014/main" id="{70FD71C8-2A6E-4F43-84E5-5A09FBE02F36}"/>
                </a:ext>
              </a:extLst>
            </p:cNvPr>
            <p:cNvSpPr/>
            <p:nvPr/>
          </p:nvSpPr>
          <p:spPr>
            <a:xfrm>
              <a:off x="7979017" y="6414698"/>
              <a:ext cx="173900" cy="1145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57150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L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video>
            <p:seq concurrent="1" nextAc="seek">
              <p:cTn id="8" dur="indefinit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childTnLst>
                  <p:par>
                    <p:cTn id="9" fill="hold">
                      <p:stCondLst>
                        <p:cond evt="onBegin" delay="0">
                          <p:tn val="8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682E-59EF-4089-B25E-DAB7A0F75E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Aliasing Map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771860BF-F424-40FC-875D-7D546C2F81FB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B15AF-88C1-4130-88BB-CD4BF59CF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69" y="1282702"/>
            <a:ext cx="11179509" cy="524301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>
            <a:extLst>
              <a:ext uri="{FF2B5EF4-FFF2-40B4-BE49-F238E27FC236}">
                <a16:creationId xmlns:a16="http://schemas.microsoft.com/office/drawing/2014/main" id="{215247DE-3D10-4EBF-8D09-674E1DBAEDCF}"/>
              </a:ext>
            </a:extLst>
          </p:cNvPr>
          <p:cNvSpPr/>
          <p:nvPr/>
        </p:nvSpPr>
        <p:spPr>
          <a:xfrm>
            <a:off x="7619996" y="0"/>
            <a:ext cx="4572000" cy="6858000"/>
          </a:xfrm>
          <a:prstGeom prst="rect">
            <a:avLst/>
          </a:prstGeom>
          <a:solidFill>
            <a:srgbClr val="E0E0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75D898-6BD8-413E-8B86-9767BEECF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2641601"/>
            <a:ext cx="5969002" cy="1397002"/>
          </a:xfrm>
        </p:spPr>
        <p:txBody>
          <a:bodyPr/>
          <a:lstStyle/>
          <a:p>
            <a:pPr lvl="0"/>
            <a:r>
              <a:rPr lang="en-US" sz="4000" b="1">
                <a:solidFill>
                  <a:srgbClr val="1B1B27"/>
                </a:solidFill>
              </a:rPr>
              <a:t>The Ball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83B3474-0D8F-4CA1-828A-186A88EFD7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996" y="4140202"/>
            <a:ext cx="5969002" cy="1015998"/>
          </a:xfrm>
        </p:spPr>
        <p:txBody>
          <a:bodyPr/>
          <a:lstStyle/>
          <a:p>
            <a:pPr lvl="0">
              <a:lnSpc>
                <a:spcPct val="112000"/>
              </a:lnSpc>
            </a:pPr>
            <a:r>
              <a:rPr lang="en-US" sz="1600">
                <a:solidFill>
                  <a:srgbClr val="3B3939"/>
                </a:solidFill>
              </a:rPr>
              <a:t>PointMaze giant-stitch — a point mass that navigates from 30 range beams alone</a:t>
            </a:r>
          </a:p>
        </p:txBody>
      </p:sp>
      <p:sp>
        <p:nvSpPr>
          <p:cNvPr id="5" name="Bar">
            <a:extLst>
              <a:ext uri="{FF2B5EF4-FFF2-40B4-BE49-F238E27FC236}">
                <a16:creationId xmlns:a16="http://schemas.microsoft.com/office/drawing/2014/main" id="{A2E4D308-DA38-464C-9FE7-D689C19D867F}"/>
              </a:ext>
            </a:extLst>
          </p:cNvPr>
          <p:cNvSpPr/>
          <p:nvPr/>
        </p:nvSpPr>
        <p:spPr>
          <a:xfrm>
            <a:off x="761996" y="2387598"/>
            <a:ext cx="914400" cy="50804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FC10DB76-41F0-403C-95FC-7732B649FC8B}"/>
              </a:ext>
            </a:extLst>
          </p:cNvPr>
          <p:cNvSpPr txBox="1"/>
          <p:nvPr/>
        </p:nvSpPr>
        <p:spPr>
          <a:xfrm>
            <a:off x="8178795" y="2692395"/>
            <a:ext cx="3174997" cy="1524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300" baseline="0">
                <a:solidFill>
                  <a:srgbClr val="6C6C7E"/>
                </a:solidFill>
                <a:uFillTx/>
                <a:latin typeface="Calibri"/>
              </a:rPr>
              <a:t>SECTION 03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True-LiDAR on the ball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2719E-7B2B-4308-AAD5-CBB2FF8921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Why We Moved to the Ball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98473D65-B431-4EBF-8991-2CA7840C1650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DE282821-E568-4ACD-BD95-1C7E022F3C7E}"/>
              </a:ext>
            </a:extLst>
          </p:cNvPr>
          <p:cNvSpPr/>
          <p:nvPr/>
        </p:nvSpPr>
        <p:spPr>
          <a:xfrm>
            <a:off x="761996" y="1854202"/>
            <a:ext cx="3386663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0C80799F-6AA3-42FD-9EC8-0FFE1AA601DF}"/>
              </a:ext>
            </a:extLst>
          </p:cNvPr>
          <p:cNvSpPr/>
          <p:nvPr/>
        </p:nvSpPr>
        <p:spPr>
          <a:xfrm>
            <a:off x="761996" y="1854202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61CA781A-1E59-4540-B6A1-AC9A8773E7D3}"/>
              </a:ext>
            </a:extLst>
          </p:cNvPr>
          <p:cNvSpPr txBox="1"/>
          <p:nvPr/>
        </p:nvSpPr>
        <p:spPr>
          <a:xfrm>
            <a:off x="1066803" y="2133596"/>
            <a:ext cx="2777069" cy="254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THE REASON</a:t>
            </a: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13FD3DD7-753F-4C3B-A877-F9EB83AC46CE}"/>
              </a:ext>
            </a:extLst>
          </p:cNvPr>
          <p:cNvSpPr txBox="1"/>
          <p:nvPr/>
        </p:nvSpPr>
        <p:spPr>
          <a:xfrm>
            <a:off x="1066803" y="2463795"/>
            <a:ext cx="2777069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The ant plateaued</a:t>
            </a: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7FE8B5B6-469B-48DF-B57E-4A8FE25353AD}"/>
              </a:ext>
            </a:extLst>
          </p:cNvPr>
          <p:cNvSpPr txBox="1"/>
          <p:nvPr/>
        </p:nvSpPr>
        <p:spPr>
          <a:xfrm>
            <a:off x="1066803" y="2971800"/>
            <a:ext cx="2777069" cy="18288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End-to-end success topped out near 10%, with three failure sources stacked on top of each other: control, self-localization and goal ambiguity.</a:t>
            </a: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CF30D8B1-1C36-434A-8C7D-B4B4568C3A83}"/>
              </a:ext>
            </a:extLst>
          </p:cNvPr>
          <p:cNvSpPr/>
          <p:nvPr/>
        </p:nvSpPr>
        <p:spPr>
          <a:xfrm>
            <a:off x="4402671" y="1854202"/>
            <a:ext cx="3386663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A874EBD1-9761-4EE4-820F-13BA464E85C0}"/>
              </a:ext>
            </a:extLst>
          </p:cNvPr>
          <p:cNvSpPr/>
          <p:nvPr/>
        </p:nvSpPr>
        <p:spPr>
          <a:xfrm>
            <a:off x="4402671" y="1854202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3D6E595B-09A5-4F4B-B8D3-1239B707798D}"/>
              </a:ext>
            </a:extLst>
          </p:cNvPr>
          <p:cNvSpPr txBox="1"/>
          <p:nvPr/>
        </p:nvSpPr>
        <p:spPr>
          <a:xfrm>
            <a:off x="4707468" y="2133596"/>
            <a:ext cx="2777069" cy="254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WHAT IT REMOVES</a:t>
            </a: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8D7BA2C4-F0E4-45FD-819B-F9112C99E2F4}"/>
              </a:ext>
            </a:extLst>
          </p:cNvPr>
          <p:cNvSpPr txBox="1"/>
          <p:nvPr/>
        </p:nvSpPr>
        <p:spPr>
          <a:xfrm>
            <a:off x="4707468" y="2463795"/>
            <a:ext cx="2777069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No heading, no learned executor</a:t>
            </a: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C318C468-2C7B-473E-A82C-49A798182525}"/>
              </a:ext>
            </a:extLst>
          </p:cNvPr>
          <p:cNvSpPr txBox="1"/>
          <p:nvPr/>
        </p:nvSpPr>
        <p:spPr>
          <a:xfrm>
            <a:off x="4707468" y="2971800"/>
            <a:ext cx="2777069" cy="18288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A point mass has no orientation, so scans are a pure function of position and the reference grid drops from 12 angular bins to 1. OGBench drives it with a proven P-law.</a:t>
            </a: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2677E496-07BB-4652-9CE3-4ED47AA362A5}"/>
              </a:ext>
            </a:extLst>
          </p:cNvPr>
          <p:cNvSpPr/>
          <p:nvPr/>
        </p:nvSpPr>
        <p:spPr>
          <a:xfrm>
            <a:off x="8043336" y="1854202"/>
            <a:ext cx="3386663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R">
            <a:extLst>
              <a:ext uri="{FF2B5EF4-FFF2-40B4-BE49-F238E27FC236}">
                <a16:creationId xmlns:a16="http://schemas.microsoft.com/office/drawing/2014/main" id="{45FF4C23-E53F-408C-97C2-6A9C84F7E41E}"/>
              </a:ext>
            </a:extLst>
          </p:cNvPr>
          <p:cNvSpPr/>
          <p:nvPr/>
        </p:nvSpPr>
        <p:spPr>
          <a:xfrm>
            <a:off x="8043336" y="1854202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9D185710-DF45-46DF-9BE7-0EC7A5915884}"/>
              </a:ext>
            </a:extLst>
          </p:cNvPr>
          <p:cNvSpPr txBox="1"/>
          <p:nvPr/>
        </p:nvSpPr>
        <p:spPr>
          <a:xfrm>
            <a:off x="8348133" y="2133596"/>
            <a:ext cx="2777069" cy="254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WHAT SURVIVES</a:t>
            </a:r>
          </a:p>
        </p:txBody>
      </p:sp>
      <p:sp>
        <p:nvSpPr>
          <p:cNvPr id="17" name="T">
            <a:extLst>
              <a:ext uri="{FF2B5EF4-FFF2-40B4-BE49-F238E27FC236}">
                <a16:creationId xmlns:a16="http://schemas.microsoft.com/office/drawing/2014/main" id="{87ACAF5A-A107-491F-BC53-0C572CB18B4E}"/>
              </a:ext>
            </a:extLst>
          </p:cNvPr>
          <p:cNvSpPr txBox="1"/>
          <p:nvPr/>
        </p:nvSpPr>
        <p:spPr>
          <a:xfrm>
            <a:off x="8348133" y="2463795"/>
            <a:ext cx="2777069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Goal-scan aliasing</a:t>
            </a:r>
          </a:p>
        </p:txBody>
      </p:sp>
      <p:sp>
        <p:nvSpPr>
          <p:cNvPr id="18" name="T">
            <a:extLst>
              <a:ext uri="{FF2B5EF4-FFF2-40B4-BE49-F238E27FC236}">
                <a16:creationId xmlns:a16="http://schemas.microsoft.com/office/drawing/2014/main" id="{0F54B366-75E6-4B5E-9D8D-D42856EE9AD1}"/>
              </a:ext>
            </a:extLst>
          </p:cNvPr>
          <p:cNvSpPr txBox="1"/>
          <p:nvPr/>
        </p:nvSpPr>
        <p:spPr>
          <a:xfrm>
            <a:off x="8348133" y="2971800"/>
            <a:ext cx="2777069" cy="18288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The one hard problem is unchanged: different places still produce near-identical scans. That is geometry, not agent — and it is the science we wanted to study.</a:t>
            </a:r>
          </a:p>
        </p:txBody>
      </p:sp>
      <p:sp>
        <p:nvSpPr>
          <p:cNvPr id="19" name="R">
            <a:extLst>
              <a:ext uri="{FF2B5EF4-FFF2-40B4-BE49-F238E27FC236}">
                <a16:creationId xmlns:a16="http://schemas.microsoft.com/office/drawing/2014/main" id="{AF20317D-7EF8-4385-9E84-E56BB94E9DD7}"/>
              </a:ext>
            </a:extLst>
          </p:cNvPr>
          <p:cNvSpPr/>
          <p:nvPr/>
        </p:nvSpPr>
        <p:spPr>
          <a:xfrm>
            <a:off x="761996" y="5257800"/>
            <a:ext cx="10668003" cy="914400"/>
          </a:xfrm>
          <a:prstGeom prst="rect">
            <a:avLst/>
          </a:prstGeom>
          <a:solidFill>
            <a:srgbClr val="E0E0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">
            <a:extLst>
              <a:ext uri="{FF2B5EF4-FFF2-40B4-BE49-F238E27FC236}">
                <a16:creationId xmlns:a16="http://schemas.microsoft.com/office/drawing/2014/main" id="{A9522057-8F03-4BA3-97BA-F26A49D0FEDC}"/>
              </a:ext>
            </a:extLst>
          </p:cNvPr>
          <p:cNvSpPr txBox="1"/>
          <p:nvPr/>
        </p:nvSpPr>
        <p:spPr>
          <a:xfrm>
            <a:off x="1066803" y="5486400"/>
            <a:ext cx="10058400" cy="5080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Both perception channels now measure free.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Reading LiDAR instead of the state costs nothing measurable; the whole remaining gap is planner and executor.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C6A1B-9992-4452-BE3D-97DBFDDF6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The Pipeline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6477492A-5EE9-4D4D-9BB7-C375ECDE2E22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75CDD316-D1D7-4C8A-A03D-ECE64D146F24}"/>
              </a:ext>
            </a:extLst>
          </p:cNvPr>
          <p:cNvSpPr/>
          <p:nvPr/>
        </p:nvSpPr>
        <p:spPr>
          <a:xfrm>
            <a:off x="761996" y="1854202"/>
            <a:ext cx="1991362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130734AC-79DB-4569-986C-D9A84278DC8F}"/>
              </a:ext>
            </a:extLst>
          </p:cNvPr>
          <p:cNvSpPr/>
          <p:nvPr/>
        </p:nvSpPr>
        <p:spPr>
          <a:xfrm>
            <a:off x="761996" y="1854202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EB3CA743-A8B4-4135-B4D2-560F2377D2F3}"/>
              </a:ext>
            </a:extLst>
          </p:cNvPr>
          <p:cNvSpPr txBox="1"/>
          <p:nvPr/>
        </p:nvSpPr>
        <p:spPr>
          <a:xfrm>
            <a:off x="1015998" y="2108204"/>
            <a:ext cx="1483357" cy="2794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01</a:t>
            </a: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8E75C645-6254-449F-8536-6167D10016F9}"/>
              </a:ext>
            </a:extLst>
          </p:cNvPr>
          <p:cNvSpPr txBox="1"/>
          <p:nvPr/>
        </p:nvSpPr>
        <p:spPr>
          <a:xfrm>
            <a:off x="1015998" y="2438403"/>
            <a:ext cx="1483357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Sensor</a:t>
            </a: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301946F6-98B6-4904-817E-483DBBE57E1D}"/>
              </a:ext>
            </a:extLst>
          </p:cNvPr>
          <p:cNvSpPr txBox="1"/>
          <p:nvPr/>
        </p:nvSpPr>
        <p:spPr>
          <a:xfrm>
            <a:off x="1015998" y="2870201"/>
            <a:ext cx="1483357" cy="19558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A 30-beam scan, full 2π field of view, 12 wu max range, raycast against the true maze map. Yaw is identically zero.</a:t>
            </a: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3E4951CB-D444-478C-9715-84D2EC24190A}"/>
              </a:ext>
            </a:extLst>
          </p:cNvPr>
          <p:cNvSpPr/>
          <p:nvPr/>
        </p:nvSpPr>
        <p:spPr>
          <a:xfrm>
            <a:off x="2931164" y="1854202"/>
            <a:ext cx="1991362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6E9CF2EE-85B3-444F-A382-74696904581F}"/>
              </a:ext>
            </a:extLst>
          </p:cNvPr>
          <p:cNvSpPr/>
          <p:nvPr/>
        </p:nvSpPr>
        <p:spPr>
          <a:xfrm>
            <a:off x="2931164" y="1854202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98F5A7C8-C4AE-4731-B430-4503889C8819}"/>
              </a:ext>
            </a:extLst>
          </p:cNvPr>
          <p:cNvSpPr txBox="1"/>
          <p:nvPr/>
        </p:nvSpPr>
        <p:spPr>
          <a:xfrm>
            <a:off x="3185156" y="2108204"/>
            <a:ext cx="1483357" cy="2794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02</a:t>
            </a: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CD14F36B-2780-432A-B573-3E391D7BB7EF}"/>
              </a:ext>
            </a:extLst>
          </p:cNvPr>
          <p:cNvSpPr txBox="1"/>
          <p:nvPr/>
        </p:nvSpPr>
        <p:spPr>
          <a:xfrm>
            <a:off x="3185156" y="2438403"/>
            <a:ext cx="1483357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Planner</a:t>
            </a: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C25C758C-2D9C-4882-9960-85AE1664432A}"/>
              </a:ext>
            </a:extLst>
          </p:cNvPr>
          <p:cNvSpPr txBox="1"/>
          <p:nvPr/>
        </p:nvSpPr>
        <p:spPr>
          <a:xfrm>
            <a:off x="3185156" y="2870201"/>
            <a:ext cx="1483357" cy="19558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Composed diffusion in 30-D scan space. 8 segments × 160 frames, overlap 56, giving an 888-frame scan plan. Start and goal scans inpainted.</a:t>
            </a: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56EAF9FB-AE99-416D-898E-7D4AB2D1CFEB}"/>
              </a:ext>
            </a:extLst>
          </p:cNvPr>
          <p:cNvSpPr/>
          <p:nvPr/>
        </p:nvSpPr>
        <p:spPr>
          <a:xfrm>
            <a:off x="5100322" y="1854202"/>
            <a:ext cx="1991362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R">
            <a:extLst>
              <a:ext uri="{FF2B5EF4-FFF2-40B4-BE49-F238E27FC236}">
                <a16:creationId xmlns:a16="http://schemas.microsoft.com/office/drawing/2014/main" id="{B02D233C-A940-447C-9A60-D74BA23F0871}"/>
              </a:ext>
            </a:extLst>
          </p:cNvPr>
          <p:cNvSpPr/>
          <p:nvPr/>
        </p:nvSpPr>
        <p:spPr>
          <a:xfrm>
            <a:off x="5100322" y="1854202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D452010D-288C-42EF-B161-89BF448684DB}"/>
              </a:ext>
            </a:extLst>
          </p:cNvPr>
          <p:cNvSpPr txBox="1"/>
          <p:nvPr/>
        </p:nvSpPr>
        <p:spPr>
          <a:xfrm>
            <a:off x="5354324" y="2108204"/>
            <a:ext cx="1483357" cy="2794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03</a:t>
            </a:r>
          </a:p>
        </p:txBody>
      </p:sp>
      <p:sp>
        <p:nvSpPr>
          <p:cNvPr id="17" name="T">
            <a:extLst>
              <a:ext uri="{FF2B5EF4-FFF2-40B4-BE49-F238E27FC236}">
                <a16:creationId xmlns:a16="http://schemas.microsoft.com/office/drawing/2014/main" id="{163195B7-1149-447E-9B07-54AF4A0CB0AB}"/>
              </a:ext>
            </a:extLst>
          </p:cNvPr>
          <p:cNvSpPr txBox="1"/>
          <p:nvPr/>
        </p:nvSpPr>
        <p:spPr>
          <a:xfrm>
            <a:off x="5354324" y="2438403"/>
            <a:ext cx="1483357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Decode</a:t>
            </a:r>
          </a:p>
        </p:txBody>
      </p:sp>
      <p:sp>
        <p:nvSpPr>
          <p:cNvPr id="18" name="T">
            <a:extLst>
              <a:ext uri="{FF2B5EF4-FFF2-40B4-BE49-F238E27FC236}">
                <a16:creationId xmlns:a16="http://schemas.microsoft.com/office/drawing/2014/main" id="{27E9C95B-CE1C-446C-B483-496A6580911C}"/>
              </a:ext>
            </a:extLst>
          </p:cNvPr>
          <p:cNvSpPr txBox="1"/>
          <p:nvPr/>
        </p:nvSpPr>
        <p:spPr>
          <a:xfrm>
            <a:off x="5354324" y="2870201"/>
            <a:ext cx="1483357" cy="19558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A Viterbi localizer over a grid of 4,409 poses. Max-product over whole paths turns the scan plan into (x,y) carrot targets.</a:t>
            </a:r>
          </a:p>
        </p:txBody>
      </p:sp>
      <p:sp>
        <p:nvSpPr>
          <p:cNvPr id="19" name="R">
            <a:extLst>
              <a:ext uri="{FF2B5EF4-FFF2-40B4-BE49-F238E27FC236}">
                <a16:creationId xmlns:a16="http://schemas.microsoft.com/office/drawing/2014/main" id="{85D6CE22-3345-42E9-8DAB-B4A506BACBE3}"/>
              </a:ext>
            </a:extLst>
          </p:cNvPr>
          <p:cNvSpPr/>
          <p:nvPr/>
        </p:nvSpPr>
        <p:spPr>
          <a:xfrm>
            <a:off x="7269480" y="1854202"/>
            <a:ext cx="1991362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R">
            <a:extLst>
              <a:ext uri="{FF2B5EF4-FFF2-40B4-BE49-F238E27FC236}">
                <a16:creationId xmlns:a16="http://schemas.microsoft.com/office/drawing/2014/main" id="{76D707F3-A9F1-47BB-A7AB-8F5E79D81A2D}"/>
              </a:ext>
            </a:extLst>
          </p:cNvPr>
          <p:cNvSpPr/>
          <p:nvPr/>
        </p:nvSpPr>
        <p:spPr>
          <a:xfrm>
            <a:off x="7269480" y="1854202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">
            <a:extLst>
              <a:ext uri="{FF2B5EF4-FFF2-40B4-BE49-F238E27FC236}">
                <a16:creationId xmlns:a16="http://schemas.microsoft.com/office/drawing/2014/main" id="{10BD8716-EF36-4F2C-9704-ADE5D1B31D9C}"/>
              </a:ext>
            </a:extLst>
          </p:cNvPr>
          <p:cNvSpPr txBox="1"/>
          <p:nvPr/>
        </p:nvSpPr>
        <p:spPr>
          <a:xfrm>
            <a:off x="7523482" y="2108204"/>
            <a:ext cx="1483357" cy="2794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04</a:t>
            </a:r>
          </a:p>
        </p:txBody>
      </p:sp>
      <p:sp>
        <p:nvSpPr>
          <p:cNvPr id="22" name="T">
            <a:extLst>
              <a:ext uri="{FF2B5EF4-FFF2-40B4-BE49-F238E27FC236}">
                <a16:creationId xmlns:a16="http://schemas.microsoft.com/office/drawing/2014/main" id="{FB7068B8-AC47-43BA-BF94-CED4632A50A0}"/>
              </a:ext>
            </a:extLst>
          </p:cNvPr>
          <p:cNvSpPr txBox="1"/>
          <p:nvPr/>
        </p:nvSpPr>
        <p:spPr>
          <a:xfrm>
            <a:off x="7523482" y="2438403"/>
            <a:ext cx="1483357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Pursuit</a:t>
            </a:r>
          </a:p>
        </p:txBody>
      </p:sp>
      <p:sp>
        <p:nvSpPr>
          <p:cNvPr id="23" name="T">
            <a:extLst>
              <a:ext uri="{FF2B5EF4-FFF2-40B4-BE49-F238E27FC236}">
                <a16:creationId xmlns:a16="http://schemas.microsoft.com/office/drawing/2014/main" id="{C2F4B040-4171-4C9C-9149-6439C5D1223A}"/>
              </a:ext>
            </a:extLst>
          </p:cNvPr>
          <p:cNvSpPr txBox="1"/>
          <p:nvPr/>
        </p:nvSpPr>
        <p:spPr>
          <a:xfrm>
            <a:off x="7523482" y="2870201"/>
            <a:ext cx="1483357" cy="19558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BFS waypoints plus a cursor: an argmin over a 61-index forward window, 2 wu of plan arc ahead, line-of-sight checked.</a:t>
            </a:r>
          </a:p>
        </p:txBody>
      </p:sp>
      <p:sp>
        <p:nvSpPr>
          <p:cNvPr id="24" name="R">
            <a:extLst>
              <a:ext uri="{FF2B5EF4-FFF2-40B4-BE49-F238E27FC236}">
                <a16:creationId xmlns:a16="http://schemas.microsoft.com/office/drawing/2014/main" id="{80028EA6-C4F9-42DB-8A03-32CDCD089F8A}"/>
              </a:ext>
            </a:extLst>
          </p:cNvPr>
          <p:cNvSpPr/>
          <p:nvPr/>
        </p:nvSpPr>
        <p:spPr>
          <a:xfrm>
            <a:off x="9438637" y="1854202"/>
            <a:ext cx="1991362" cy="3174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R">
            <a:extLst>
              <a:ext uri="{FF2B5EF4-FFF2-40B4-BE49-F238E27FC236}">
                <a16:creationId xmlns:a16="http://schemas.microsoft.com/office/drawing/2014/main" id="{1109D295-741E-4705-B3AC-1A10690C1810}"/>
              </a:ext>
            </a:extLst>
          </p:cNvPr>
          <p:cNvSpPr/>
          <p:nvPr/>
        </p:nvSpPr>
        <p:spPr>
          <a:xfrm>
            <a:off x="9438637" y="1854202"/>
            <a:ext cx="76196" cy="3174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">
            <a:extLst>
              <a:ext uri="{FF2B5EF4-FFF2-40B4-BE49-F238E27FC236}">
                <a16:creationId xmlns:a16="http://schemas.microsoft.com/office/drawing/2014/main" id="{640692B7-E02B-462C-B7D1-6C8105A5F64A}"/>
              </a:ext>
            </a:extLst>
          </p:cNvPr>
          <p:cNvSpPr txBox="1"/>
          <p:nvPr/>
        </p:nvSpPr>
        <p:spPr>
          <a:xfrm>
            <a:off x="9692640" y="2108204"/>
            <a:ext cx="1483357" cy="2794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05</a:t>
            </a:r>
          </a:p>
        </p:txBody>
      </p:sp>
      <p:sp>
        <p:nvSpPr>
          <p:cNvPr id="27" name="T">
            <a:extLst>
              <a:ext uri="{FF2B5EF4-FFF2-40B4-BE49-F238E27FC236}">
                <a16:creationId xmlns:a16="http://schemas.microsoft.com/office/drawing/2014/main" id="{1C182911-F85C-4798-A38E-2CDAEE14A7C5}"/>
              </a:ext>
            </a:extLst>
          </p:cNvPr>
          <p:cNvSpPr txBox="1"/>
          <p:nvPr/>
        </p:nvSpPr>
        <p:spPr>
          <a:xfrm>
            <a:off x="9692640" y="2438403"/>
            <a:ext cx="1483357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Executor</a:t>
            </a:r>
          </a:p>
        </p:txBody>
      </p:sp>
      <p:sp>
        <p:nvSpPr>
          <p:cNvPr id="28" name="T">
            <a:extLst>
              <a:ext uri="{FF2B5EF4-FFF2-40B4-BE49-F238E27FC236}">
                <a16:creationId xmlns:a16="http://schemas.microsoft.com/office/drawing/2014/main" id="{633CC876-E9EE-463C-ABEA-26B17B2B1AE1}"/>
              </a:ext>
            </a:extLst>
          </p:cNvPr>
          <p:cNvSpPr txBox="1"/>
          <p:nvPr/>
        </p:nvSpPr>
        <p:spPr>
          <a:xfrm>
            <a:off x="9692640" y="2870201"/>
            <a:ext cx="1483357" cy="19558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PID with Kp = 5, bit-identical to upstream's proven P-law. Saturated on roughly 90% of steps.</a:t>
            </a:r>
          </a:p>
        </p:txBody>
      </p:sp>
      <p:sp>
        <p:nvSpPr>
          <p:cNvPr id="29" name="R">
            <a:extLst>
              <a:ext uri="{FF2B5EF4-FFF2-40B4-BE49-F238E27FC236}">
                <a16:creationId xmlns:a16="http://schemas.microsoft.com/office/drawing/2014/main" id="{E54C6C3F-6F74-4833-BACC-9EE7AF024DB5}"/>
              </a:ext>
            </a:extLst>
          </p:cNvPr>
          <p:cNvSpPr/>
          <p:nvPr/>
        </p:nvSpPr>
        <p:spPr>
          <a:xfrm>
            <a:off x="761996" y="5257800"/>
            <a:ext cx="10668003" cy="914400"/>
          </a:xfrm>
          <a:prstGeom prst="rect">
            <a:avLst/>
          </a:prstGeom>
          <a:solidFill>
            <a:srgbClr val="E0E0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">
            <a:extLst>
              <a:ext uri="{FF2B5EF4-FFF2-40B4-BE49-F238E27FC236}">
                <a16:creationId xmlns:a16="http://schemas.microsoft.com/office/drawing/2014/main" id="{6ABBA6D9-E032-4765-BF08-61DB8A32A8DE}"/>
              </a:ext>
            </a:extLst>
          </p:cNvPr>
          <p:cNvSpPr txBox="1"/>
          <p:nvPr/>
        </p:nvSpPr>
        <p:spPr>
          <a:xfrm>
            <a:off x="1066803" y="5460997"/>
            <a:ext cx="10058400" cy="558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Belief runs alongside.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A sequence-consistent grid filter localizes the ball every step from its live scan, seeded from the start scan; the same likelihood machinery localizes the goal scan.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552D-F7BF-494C-8F50-109AD7E3B9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The Viterbi Decode: Most Impactful Improvement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639DB256-D4CB-4508-8D4E-15E4FEFCCCF5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">
            <a:extLst>
              <a:ext uri="{FF2B5EF4-FFF2-40B4-BE49-F238E27FC236}">
                <a16:creationId xmlns:a16="http://schemas.microsoft.com/office/drawing/2014/main" id="{80216CF0-1BE4-4E89-9CC0-59DE36BA2BA5}"/>
              </a:ext>
            </a:extLst>
          </p:cNvPr>
          <p:cNvSpPr txBox="1"/>
          <p:nvPr/>
        </p:nvSpPr>
        <p:spPr>
          <a:xfrm>
            <a:off x="761996" y="1397002"/>
            <a:ext cx="10668003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Max-product over paths replaced per-step argmax in the plan decode — zero retraining, CPU-only, +26 pts @1000 steps</a:t>
            </a: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F3D5D066-1208-4938-95E8-4F8D770C8834}"/>
              </a:ext>
            </a:extLst>
          </p:cNvPr>
          <p:cNvSpPr/>
          <p:nvPr/>
        </p:nvSpPr>
        <p:spPr>
          <a:xfrm>
            <a:off x="761996" y="1930398"/>
            <a:ext cx="10668003" cy="11175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R">
            <a:extLst>
              <a:ext uri="{FF2B5EF4-FFF2-40B4-BE49-F238E27FC236}">
                <a16:creationId xmlns:a16="http://schemas.microsoft.com/office/drawing/2014/main" id="{E1E05171-FEB1-468E-A4F6-7C97673DBC6A}"/>
              </a:ext>
            </a:extLst>
          </p:cNvPr>
          <p:cNvSpPr/>
          <p:nvPr/>
        </p:nvSpPr>
        <p:spPr>
          <a:xfrm>
            <a:off x="761996" y="1930398"/>
            <a:ext cx="76196" cy="11175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65B205A4-77E1-42A7-9752-5EB4BFF63BCB}"/>
              </a:ext>
            </a:extLst>
          </p:cNvPr>
          <p:cNvSpPr txBox="1"/>
          <p:nvPr/>
        </p:nvSpPr>
        <p:spPr>
          <a:xfrm>
            <a:off x="1066803" y="2133596"/>
            <a:ext cx="2286000" cy="3047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THE FAULT</a:t>
            </a: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F9455743-9647-471B-BD78-E9CB3D21AF75}"/>
              </a:ext>
            </a:extLst>
          </p:cNvPr>
          <p:cNvSpPr txBox="1"/>
          <p:nvPr/>
        </p:nvSpPr>
        <p:spPr>
          <a:xfrm>
            <a:off x="3556001" y="2108204"/>
            <a:ext cx="7569202" cy="8128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The filter decode took the argmax independently at every step,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so it emitted carrot targets the ball physically could not follow. 89% of the steps where the ball came off its plan sat on one — 8% null, lift 10.6x, p = 1.7e-137.</a:t>
            </a: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0B203C60-63AB-40A3-A2D9-553006063C36}"/>
              </a:ext>
            </a:extLst>
          </p:cNvPr>
          <p:cNvSpPr/>
          <p:nvPr/>
        </p:nvSpPr>
        <p:spPr>
          <a:xfrm>
            <a:off x="761996" y="3200400"/>
            <a:ext cx="10668003" cy="11175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759421F7-A86B-41C0-A270-9A31C5AAD65E}"/>
              </a:ext>
            </a:extLst>
          </p:cNvPr>
          <p:cNvSpPr/>
          <p:nvPr/>
        </p:nvSpPr>
        <p:spPr>
          <a:xfrm>
            <a:off x="761996" y="3200400"/>
            <a:ext cx="76196" cy="11175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B42D2E96-0860-4807-A223-8DB18C85C137}"/>
              </a:ext>
            </a:extLst>
          </p:cNvPr>
          <p:cNvSpPr txBox="1"/>
          <p:nvPr/>
        </p:nvSpPr>
        <p:spPr>
          <a:xfrm>
            <a:off x="1066803" y="3403597"/>
            <a:ext cx="2286000" cy="3047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THE FIX</a:t>
            </a: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418CECB1-608A-4183-9359-95E55F6048D9}"/>
              </a:ext>
            </a:extLst>
          </p:cNvPr>
          <p:cNvSpPr txBox="1"/>
          <p:nvPr/>
        </p:nvSpPr>
        <p:spPr>
          <a:xfrm>
            <a:off x="3556001" y="3378195"/>
            <a:ext cx="7569202" cy="8128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Max-product over paths on the 4,409-pose grid (0.5 wu lattice).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It removes 100% of the infeasible carrots and lowers the scan-match residual — the model's scans were always better explained by a continuous path.</a:t>
            </a:r>
          </a:p>
        </p:txBody>
      </p:sp>
      <p:sp>
        <p:nvSpPr>
          <p:cNvPr id="13" name="R">
            <a:extLst>
              <a:ext uri="{FF2B5EF4-FFF2-40B4-BE49-F238E27FC236}">
                <a16:creationId xmlns:a16="http://schemas.microsoft.com/office/drawing/2014/main" id="{453B5CFC-AFAA-43E6-9548-7D19BD35D854}"/>
              </a:ext>
            </a:extLst>
          </p:cNvPr>
          <p:cNvSpPr/>
          <p:nvPr/>
        </p:nvSpPr>
        <p:spPr>
          <a:xfrm>
            <a:off x="761996" y="4622804"/>
            <a:ext cx="5206995" cy="15747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614E4C6C-F652-47B5-B337-12D2EFA5A35C}"/>
              </a:ext>
            </a:extLst>
          </p:cNvPr>
          <p:cNvSpPr/>
          <p:nvPr/>
        </p:nvSpPr>
        <p:spPr>
          <a:xfrm>
            <a:off x="761996" y="4622804"/>
            <a:ext cx="76196" cy="15747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37B080F2-7FD6-419A-8F7B-3483478DA5C6}"/>
              </a:ext>
            </a:extLst>
          </p:cNvPr>
          <p:cNvSpPr txBox="1"/>
          <p:nvPr/>
        </p:nvSpPr>
        <p:spPr>
          <a:xfrm>
            <a:off x="1066803" y="4876796"/>
            <a:ext cx="4622804" cy="6096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19.0 → 45.2</a:t>
            </a: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04FF6636-704E-41CA-BE12-49FD0263EBA0}"/>
              </a:ext>
            </a:extLst>
          </p:cNvPr>
          <p:cNvSpPr txBox="1"/>
          <p:nvPr/>
        </p:nvSpPr>
        <p:spPr>
          <a:xfrm>
            <a:off x="1066803" y="5537204"/>
            <a:ext cx="4622804" cy="558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@1000 steps · +26.2 pts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p = 1.2e-24 — the headline number</a:t>
            </a:r>
          </a:p>
        </p:txBody>
      </p:sp>
      <p:sp>
        <p:nvSpPr>
          <p:cNvPr id="17" name="R">
            <a:extLst>
              <a:ext uri="{FF2B5EF4-FFF2-40B4-BE49-F238E27FC236}">
                <a16:creationId xmlns:a16="http://schemas.microsoft.com/office/drawing/2014/main" id="{00512F74-976E-40A9-B3A9-9C68E39E6E9A}"/>
              </a:ext>
            </a:extLst>
          </p:cNvPr>
          <p:cNvSpPr/>
          <p:nvPr/>
        </p:nvSpPr>
        <p:spPr>
          <a:xfrm>
            <a:off x="6223004" y="4622804"/>
            <a:ext cx="5206995" cy="15747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R">
            <a:extLst>
              <a:ext uri="{FF2B5EF4-FFF2-40B4-BE49-F238E27FC236}">
                <a16:creationId xmlns:a16="http://schemas.microsoft.com/office/drawing/2014/main" id="{7FFA8D6C-13EC-44ED-9583-C7E8B8C4A9FC}"/>
              </a:ext>
            </a:extLst>
          </p:cNvPr>
          <p:cNvSpPr/>
          <p:nvPr/>
        </p:nvSpPr>
        <p:spPr>
          <a:xfrm>
            <a:off x="6223004" y="4622804"/>
            <a:ext cx="76196" cy="15747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">
            <a:extLst>
              <a:ext uri="{FF2B5EF4-FFF2-40B4-BE49-F238E27FC236}">
                <a16:creationId xmlns:a16="http://schemas.microsoft.com/office/drawing/2014/main" id="{95A7DD8F-7BFF-4147-B8C4-01A8693A07A7}"/>
              </a:ext>
            </a:extLst>
          </p:cNvPr>
          <p:cNvSpPr txBox="1"/>
          <p:nvPr/>
        </p:nvSpPr>
        <p:spPr>
          <a:xfrm>
            <a:off x="6527801" y="4876796"/>
            <a:ext cx="4622804" cy="6096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57.0 → 77.6</a:t>
            </a:r>
          </a:p>
        </p:txBody>
      </p:sp>
      <p:sp>
        <p:nvSpPr>
          <p:cNvPr id="20" name="T">
            <a:extLst>
              <a:ext uri="{FF2B5EF4-FFF2-40B4-BE49-F238E27FC236}">
                <a16:creationId xmlns:a16="http://schemas.microsoft.com/office/drawing/2014/main" id="{D2871C88-6AD7-40F9-A949-97C73B6E2965}"/>
              </a:ext>
            </a:extLst>
          </p:cNvPr>
          <p:cNvSpPr txBox="1"/>
          <p:nvPr/>
        </p:nvSpPr>
        <p:spPr>
          <a:xfrm>
            <a:off x="6527801" y="5537204"/>
            <a:ext cx="4622804" cy="558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@2500 steps · +20.6 pts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p = 6.2e-20 — historical budget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BC5F9-DBA2-4091-B8D5-EC5FB1B06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Where We Stand</a:t>
            </a:r>
          </a:p>
        </p:txBody>
      </p:sp>
      <p:graphicFrame>
        <p:nvGraphicFramePr>
          <p:cNvPr id="3" name="Chart 1">
            <a:extLst>
              <a:ext uri="{FF2B5EF4-FFF2-40B4-BE49-F238E27FC236}">
                <a16:creationId xmlns:a16="http://schemas.microsoft.com/office/drawing/2014/main" id="{F6C0CBF3-A229-49D8-99D5-974910CAA404}"/>
              </a:ext>
            </a:extLst>
          </p:cNvPr>
          <p:cNvGraphicFramePr/>
          <p:nvPr/>
        </p:nvGraphicFramePr>
        <p:xfrm>
          <a:off x="660397" y="1854202"/>
          <a:ext cx="6603997" cy="4317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3" imgW="1047896" imgH="1047896" progId="">
                  <p:embed/>
                </p:oleObj>
              </mc:Choice>
              <mc:Fallback>
                <p:oleObj r:id="rId3" imgW="1047896" imgH="1047896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0397" y="1854202"/>
                        <a:ext cx="6603997" cy="4317997"/>
                      </a:xfrm>
                      <a:prstGeom prst="rect">
                        <a:avLst/>
                      </a:prstGeom>
                      <a:solidFill>
                        <a:srgbClr val="4472C4"/>
                      </a:solidFill>
                      <a:ln w="12701" cap="flat">
                        <a:solidFill>
                          <a:srgbClr val="172C51"/>
                        </a:solidFill>
                        <a:prstDash val="solid"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">
            <a:extLst>
              <a:ext uri="{FF2B5EF4-FFF2-40B4-BE49-F238E27FC236}">
                <a16:creationId xmlns:a16="http://schemas.microsoft.com/office/drawing/2014/main" id="{25D51414-2EA1-498D-B2DA-E4B5DF00BB93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8E8E4E7C-9D42-4C8E-B369-8DB051361428}"/>
              </a:ext>
            </a:extLst>
          </p:cNvPr>
          <p:cNvSpPr txBox="1"/>
          <p:nvPr/>
        </p:nvSpPr>
        <p:spPr>
          <a:xfrm>
            <a:off x="761996" y="1397002"/>
            <a:ext cx="10668003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500 episodes per arm (5 tasks × 20 problems × 5 seeds). Success latches, so budget buys score.</a:t>
            </a:r>
          </a:p>
        </p:txBody>
      </p:sp>
      <p:sp>
        <p:nvSpPr>
          <p:cNvPr id="6" name="R">
            <a:extLst>
              <a:ext uri="{FF2B5EF4-FFF2-40B4-BE49-F238E27FC236}">
                <a16:creationId xmlns:a16="http://schemas.microsoft.com/office/drawing/2014/main" id="{FD9FC3EB-EDB7-4D67-8A7B-4D579B55D881}"/>
              </a:ext>
            </a:extLst>
          </p:cNvPr>
          <p:cNvSpPr/>
          <p:nvPr/>
        </p:nvSpPr>
        <p:spPr>
          <a:xfrm>
            <a:off x="7746997" y="1854202"/>
            <a:ext cx="3683002" cy="1397002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9FB1ABFE-83BC-43D5-86C6-14963F8C53F0}"/>
              </a:ext>
            </a:extLst>
          </p:cNvPr>
          <p:cNvSpPr/>
          <p:nvPr/>
        </p:nvSpPr>
        <p:spPr>
          <a:xfrm>
            <a:off x="7746997" y="1854202"/>
            <a:ext cx="76196" cy="1397002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3D65B2F7-5599-482E-AAA1-202EB947460E}"/>
              </a:ext>
            </a:extLst>
          </p:cNvPr>
          <p:cNvSpPr txBox="1"/>
          <p:nvPr/>
        </p:nvSpPr>
        <p:spPr>
          <a:xfrm>
            <a:off x="8001000" y="2006595"/>
            <a:ext cx="3174997" cy="558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45.2 ± 0.8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1F2C2B6E-D878-4868-93C6-EF187D2E64E9}"/>
              </a:ext>
            </a:extLst>
          </p:cNvPr>
          <p:cNvSpPr txBox="1"/>
          <p:nvPr/>
        </p:nvSpPr>
        <p:spPr>
          <a:xfrm>
            <a:off x="8001000" y="2590796"/>
            <a:ext cx="3174997" cy="2794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Ours @1000 steps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410715B0-4A9F-42CE-8CB4-B6A995362DF2}"/>
              </a:ext>
            </a:extLst>
          </p:cNvPr>
          <p:cNvSpPr txBox="1"/>
          <p:nvPr/>
        </p:nvSpPr>
        <p:spPr>
          <a:xfrm>
            <a:off x="8001000" y="2895603"/>
            <a:ext cx="3174997" cy="2794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Viterbi, 5 seeds × 100 problems</a:t>
            </a:r>
          </a:p>
        </p:txBody>
      </p:sp>
      <p:sp>
        <p:nvSpPr>
          <p:cNvPr id="11" name="R">
            <a:extLst>
              <a:ext uri="{FF2B5EF4-FFF2-40B4-BE49-F238E27FC236}">
                <a16:creationId xmlns:a16="http://schemas.microsoft.com/office/drawing/2014/main" id="{C043D7E6-3664-48B5-9777-3D1A41582F9D}"/>
              </a:ext>
            </a:extLst>
          </p:cNvPr>
          <p:cNvSpPr/>
          <p:nvPr/>
        </p:nvSpPr>
        <p:spPr>
          <a:xfrm>
            <a:off x="7746997" y="3403597"/>
            <a:ext cx="3683002" cy="1397002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R">
            <a:extLst>
              <a:ext uri="{FF2B5EF4-FFF2-40B4-BE49-F238E27FC236}">
                <a16:creationId xmlns:a16="http://schemas.microsoft.com/office/drawing/2014/main" id="{90CA96E8-EE07-47D3-BD6B-B1D0F12891F0}"/>
              </a:ext>
            </a:extLst>
          </p:cNvPr>
          <p:cNvSpPr/>
          <p:nvPr/>
        </p:nvSpPr>
        <p:spPr>
          <a:xfrm>
            <a:off x="7746997" y="3403597"/>
            <a:ext cx="76196" cy="1397002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EBD0E247-21CC-4C85-A27E-A1583B7E321A}"/>
              </a:ext>
            </a:extLst>
          </p:cNvPr>
          <p:cNvSpPr txBox="1"/>
          <p:nvPr/>
        </p:nvSpPr>
        <p:spPr>
          <a:xfrm>
            <a:off x="8001000" y="3556001"/>
            <a:ext cx="3174997" cy="558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68 ± 3</a:t>
            </a:r>
          </a:p>
        </p:txBody>
      </p:sp>
      <p:sp>
        <p:nvSpPr>
          <p:cNvPr id="14" name="T">
            <a:extLst>
              <a:ext uri="{FF2B5EF4-FFF2-40B4-BE49-F238E27FC236}">
                <a16:creationId xmlns:a16="http://schemas.microsoft.com/office/drawing/2014/main" id="{617B77CD-AD12-4431-9E42-7EFD2D250245}"/>
              </a:ext>
            </a:extLst>
          </p:cNvPr>
          <p:cNvSpPr txBox="1"/>
          <p:nvPr/>
        </p:nvSpPr>
        <p:spPr>
          <a:xfrm>
            <a:off x="8001000" y="4140202"/>
            <a:ext cx="3174997" cy="2794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CompDiffuser (paper)</a:t>
            </a:r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D03ABAB1-ACCC-4824-A0A7-4D31748054F2}"/>
              </a:ext>
            </a:extLst>
          </p:cNvPr>
          <p:cNvSpPr txBox="1"/>
          <p:nvPr/>
        </p:nvSpPr>
        <p:spPr>
          <a:xfrm>
            <a:off x="8001000" y="4444998"/>
            <a:ext cx="3174997" cy="2794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(x,y) obs + learned inverse dynamics</a:t>
            </a:r>
          </a:p>
        </p:txBody>
      </p:sp>
      <p:sp>
        <p:nvSpPr>
          <p:cNvPr id="16" name="R">
            <a:extLst>
              <a:ext uri="{FF2B5EF4-FFF2-40B4-BE49-F238E27FC236}">
                <a16:creationId xmlns:a16="http://schemas.microsoft.com/office/drawing/2014/main" id="{4B3953F3-20F3-4F52-BA43-C09CF3CAEC0D}"/>
              </a:ext>
            </a:extLst>
          </p:cNvPr>
          <p:cNvSpPr/>
          <p:nvPr/>
        </p:nvSpPr>
        <p:spPr>
          <a:xfrm>
            <a:off x="7746997" y="4953003"/>
            <a:ext cx="3683002" cy="1397002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R">
            <a:extLst>
              <a:ext uri="{FF2B5EF4-FFF2-40B4-BE49-F238E27FC236}">
                <a16:creationId xmlns:a16="http://schemas.microsoft.com/office/drawing/2014/main" id="{4BB34E96-A03F-47B3-A385-8D6E73869FC3}"/>
              </a:ext>
            </a:extLst>
          </p:cNvPr>
          <p:cNvSpPr/>
          <p:nvPr/>
        </p:nvSpPr>
        <p:spPr>
          <a:xfrm>
            <a:off x="7746997" y="4953003"/>
            <a:ext cx="76196" cy="1397002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">
            <a:extLst>
              <a:ext uri="{FF2B5EF4-FFF2-40B4-BE49-F238E27FC236}">
                <a16:creationId xmlns:a16="http://schemas.microsoft.com/office/drawing/2014/main" id="{7F304324-CD01-4D43-953C-9BFC75EE8F9D}"/>
              </a:ext>
            </a:extLst>
          </p:cNvPr>
          <p:cNvSpPr txBox="1"/>
          <p:nvPr/>
        </p:nvSpPr>
        <p:spPr>
          <a:xfrm>
            <a:off x="8001000" y="5105396"/>
            <a:ext cx="3174997" cy="558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−22.8 pts</a:t>
            </a:r>
          </a:p>
        </p:txBody>
      </p:sp>
      <p:sp>
        <p:nvSpPr>
          <p:cNvPr id="19" name="T">
            <a:extLst>
              <a:ext uri="{FF2B5EF4-FFF2-40B4-BE49-F238E27FC236}">
                <a16:creationId xmlns:a16="http://schemas.microsoft.com/office/drawing/2014/main" id="{34E63E7B-714E-4515-8FE1-9EF4F90F7C78}"/>
              </a:ext>
            </a:extLst>
          </p:cNvPr>
          <p:cNvSpPr txBox="1"/>
          <p:nvPr/>
        </p:nvSpPr>
        <p:spPr>
          <a:xfrm>
            <a:off x="8001000" y="5689597"/>
            <a:ext cx="3174997" cy="2794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Gap to close</a:t>
            </a:r>
          </a:p>
        </p:txBody>
      </p:sp>
      <p:sp>
        <p:nvSpPr>
          <p:cNvPr id="20" name="T">
            <a:extLst>
              <a:ext uri="{FF2B5EF4-FFF2-40B4-BE49-F238E27FC236}">
                <a16:creationId xmlns:a16="http://schemas.microsoft.com/office/drawing/2014/main" id="{BCDDE986-2162-4FB2-BC8A-10512A59BDB8}"/>
              </a:ext>
            </a:extLst>
          </p:cNvPr>
          <p:cNvSpPr txBox="1"/>
          <p:nvPr/>
        </p:nvSpPr>
        <p:spPr>
          <a:xfrm>
            <a:off x="8001000" y="5994404"/>
            <a:ext cx="3174997" cy="2794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~29 pts of it is recoverable time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9F08F-F6DC-4F41-BDA7-FD51611AEE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The Eval Ladder Is Flat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A0C8797-CF3D-44AC-9F97-DC0516F5BD2A}"/>
              </a:ext>
            </a:extLst>
          </p:cNvPr>
          <p:cNvGraphicFramePr>
            <a:graphicFrameLocks noGrp="1"/>
          </p:cNvGraphicFramePr>
          <p:nvPr/>
        </p:nvGraphicFramePr>
        <p:xfrm>
          <a:off x="761996" y="1904996"/>
          <a:ext cx="10668003" cy="2819396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04996">
                  <a:extLst>
                    <a:ext uri="{9D8B030D-6E8A-4147-A177-3AD203B41FA5}">
                      <a16:colId xmlns:a16="http://schemas.microsoft.com/office/drawing/2014/main" val="2289937226"/>
                    </a:ext>
                  </a:extLst>
                </a:gridCol>
                <a:gridCol w="2413001">
                  <a:extLst>
                    <a:ext uri="{9D8B030D-6E8A-4147-A177-3AD203B41FA5}">
                      <a16:colId xmlns:a16="http://schemas.microsoft.com/office/drawing/2014/main" val="1265156894"/>
                    </a:ext>
                  </a:extLst>
                </a:gridCol>
                <a:gridCol w="1524003">
                  <a:extLst>
                    <a:ext uri="{9D8B030D-6E8A-4147-A177-3AD203B41FA5}">
                      <a16:colId xmlns:a16="http://schemas.microsoft.com/office/drawing/2014/main" val="957667803"/>
                    </a:ext>
                  </a:extLst>
                </a:gridCol>
                <a:gridCol w="2920995">
                  <a:extLst>
                    <a:ext uri="{9D8B030D-6E8A-4147-A177-3AD203B41FA5}">
                      <a16:colId xmlns:a16="http://schemas.microsoft.com/office/drawing/2014/main" val="1393929903"/>
                    </a:ext>
                  </a:extLst>
                </a:gridCol>
                <a:gridCol w="1904996">
                  <a:extLst>
                    <a:ext uri="{9D8B030D-6E8A-4147-A177-3AD203B41FA5}">
                      <a16:colId xmlns:a16="http://schemas.microsoft.com/office/drawing/2014/main" val="402240905"/>
                    </a:ext>
                  </a:extLst>
                </a:gridCol>
              </a:tblGrid>
              <a:tr h="482602">
                <a:tc>
                  <a:txBody>
                    <a:bodyPr/>
                    <a:lstStyle/>
                    <a:p>
                      <a:pPr lvl="0" algn="l"/>
                      <a:r>
                        <a:rPr lang="en-IL" sz="1400" b="1">
                          <a:solidFill>
                            <a:srgbClr val="6C6C7E"/>
                          </a:solidFill>
                          <a:latin typeface="Segoe UI"/>
                          <a:cs typeface="Segoe UI"/>
                        </a:rPr>
                        <a:t>Rung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400" b="1">
                          <a:solidFill>
                            <a:srgbClr val="6C6C7E"/>
                          </a:solidFill>
                          <a:latin typeface="Segoe UI"/>
                          <a:cs typeface="Segoe UI"/>
                        </a:rPr>
                        <a:t>Goal comes from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400" b="1">
                          <a:solidFill>
                            <a:srgbClr val="6C6C7E"/>
                          </a:solidFill>
                          <a:latin typeface="Segoe UI"/>
                          <a:cs typeface="Segoe UI"/>
                        </a:rPr>
                        <a:t>Position from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400" b="1">
                          <a:solidFill>
                            <a:srgbClr val="6C6C7E"/>
                          </a:solidFill>
                          <a:latin typeface="Segoe UI"/>
                          <a:cs typeface="Segoe UI"/>
                        </a:rPr>
                        <a:t>Isolates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400" b="1">
                          <a:solidFill>
                            <a:srgbClr val="6C6C7E"/>
                          </a:solidFill>
                          <a:latin typeface="Segoe UI"/>
                          <a:cs typeface="Segoe UI"/>
                        </a:rPr>
                        <a:t>@2500, 3 seeds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356687"/>
                  </a:ext>
                </a:extLst>
              </a:tr>
              <a:tr h="584201">
                <a:tc>
                  <a:txBody>
                    <a:bodyPr/>
                    <a:lstStyle/>
                    <a:p>
                      <a:pPr lvl="0" algn="l"/>
                      <a:r>
                        <a:rPr lang="en-IL" sz="15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L1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True goal scan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True (x,y)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Planner + decode quality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55.0 ± 6.6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755523"/>
                  </a:ext>
                </a:extLst>
              </a:tr>
              <a:tr h="584201">
                <a:tc>
                  <a:txBody>
                    <a:bodyPr/>
                    <a:lstStyle/>
                    <a:p>
                      <a:pPr lvl="0" algn="l"/>
                      <a:r>
                        <a:rPr lang="en-IL" sz="15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L2</a:t>
                      </a:r>
                    </a:p>
                  </a:txBody>
                  <a:tcPr marL="127001" marR="127001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Likelihood-decoded goal cell</a:t>
                      </a:r>
                    </a:p>
                  </a:txBody>
                  <a:tcPr marL="127001" marR="127001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True (x,y)</a:t>
                      </a:r>
                    </a:p>
                  </a:txBody>
                  <a:tcPr marL="127001" marR="127001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Goal localization</a:t>
                      </a:r>
                    </a:p>
                  </a:txBody>
                  <a:tcPr marL="127001" marR="127001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55.0 ± 5.3</a:t>
                      </a:r>
                    </a:p>
                  </a:txBody>
                  <a:tcPr marL="127001" marR="127001" anchor="ctr"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813984"/>
                  </a:ext>
                </a:extLst>
              </a:tr>
              <a:tr h="584201">
                <a:tc>
                  <a:txBody>
                    <a:bodyPr/>
                    <a:lstStyle/>
                    <a:p>
                      <a:pPr lvl="0" algn="l"/>
                      <a:r>
                        <a:rPr lang="en-IL" sz="15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L3 — the deliverable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Decoded goal cell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Belief filter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Self-localization (full True-LiDAR)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57.0 ± 5.0</a:t>
                      </a:r>
                    </a:p>
                  </a:txBody>
                  <a:tcPr marL="127001" marR="127001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054257"/>
                  </a:ext>
                </a:extLst>
              </a:tr>
              <a:tr h="584201">
                <a:tc>
                  <a:txBody>
                    <a:bodyPr/>
                    <a:lstStyle/>
                    <a:p>
                      <a:pPr lvl="0" algn="l"/>
                      <a:r>
                        <a:rPr lang="en-IL" sz="15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L4</a:t>
                      </a:r>
                    </a:p>
                  </a:txBody>
                  <a:tcPr marL="127001" marR="127001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Both modes</a:t>
                      </a:r>
                    </a:p>
                  </a:txBody>
                  <a:tcPr marL="127001" marR="127001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Both</a:t>
                      </a:r>
                    </a:p>
                  </a:txBody>
                  <a:tcPr marL="127001" marR="127001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Planner-free BFS ceiling</a:t>
                      </a:r>
                    </a:p>
                  </a:txBody>
                  <a:tcPr marL="127001" marR="127001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 b="0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0% (last-mile, stale)</a:t>
                      </a:r>
                    </a:p>
                  </a:txBody>
                  <a:tcPr marL="127001" marR="127001" anchor="ctr"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695809"/>
                  </a:ext>
                </a:extLst>
              </a:tr>
            </a:tbl>
          </a:graphicData>
        </a:graphic>
      </p:graphicFrame>
      <p:sp>
        <p:nvSpPr>
          <p:cNvPr id="4" name="R">
            <a:extLst>
              <a:ext uri="{FF2B5EF4-FFF2-40B4-BE49-F238E27FC236}">
                <a16:creationId xmlns:a16="http://schemas.microsoft.com/office/drawing/2014/main" id="{C36F3343-87DD-4023-8F8E-30A208A170E3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E9FA9795-6432-45F3-A32F-FFD38991DA95}"/>
              </a:ext>
            </a:extLst>
          </p:cNvPr>
          <p:cNvSpPr txBox="1"/>
          <p:nvPr/>
        </p:nvSpPr>
        <p:spPr>
          <a:xfrm>
            <a:off x="761996" y="1397002"/>
            <a:ext cx="10668003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Each rung adds exactly one error source — so we can price each one separately</a:t>
            </a:r>
          </a:p>
        </p:txBody>
      </p:sp>
      <p:sp>
        <p:nvSpPr>
          <p:cNvPr id="6" name="R">
            <a:extLst>
              <a:ext uri="{FF2B5EF4-FFF2-40B4-BE49-F238E27FC236}">
                <a16:creationId xmlns:a16="http://schemas.microsoft.com/office/drawing/2014/main" id="{7E4D7F44-EC8E-4E2F-8ADF-56C12670793B}"/>
              </a:ext>
            </a:extLst>
          </p:cNvPr>
          <p:cNvSpPr/>
          <p:nvPr/>
        </p:nvSpPr>
        <p:spPr>
          <a:xfrm>
            <a:off x="761996" y="5206995"/>
            <a:ext cx="10668003" cy="965204"/>
          </a:xfrm>
          <a:prstGeom prst="rect">
            <a:avLst/>
          </a:prstGeom>
          <a:solidFill>
            <a:srgbClr val="E0E0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E2F7ABF6-0035-4282-9985-DFA3BA91B935}"/>
              </a:ext>
            </a:extLst>
          </p:cNvPr>
          <p:cNvSpPr txBox="1"/>
          <p:nvPr/>
        </p:nvSpPr>
        <p:spPr>
          <a:xfrm>
            <a:off x="1066803" y="5410203"/>
            <a:ext cx="10058400" cy="6096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Both perception steps are free.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Goal localization: 165 vs 165, p = 1.0, with 55/100 episodes bit-identical. Self-localization: 171 vs 165, p = 0.57, median error 0.260 wu on a 0.5 wu lattice.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95A0-3746-4D02-B518-95DF402C3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Half the Budget Produces No Motion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59D7890-DBA4-4204-911F-28F783B9A148}"/>
              </a:ext>
            </a:extLst>
          </p:cNvPr>
          <p:cNvGraphicFramePr>
            <a:graphicFrameLocks noGrp="1"/>
          </p:cNvGraphicFramePr>
          <p:nvPr/>
        </p:nvGraphicFramePr>
        <p:xfrm>
          <a:off x="761996" y="1904996"/>
          <a:ext cx="10668003" cy="2717797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603997">
                  <a:extLst>
                    <a:ext uri="{9D8B030D-6E8A-4147-A177-3AD203B41FA5}">
                      <a16:colId xmlns:a16="http://schemas.microsoft.com/office/drawing/2014/main" val="271964456"/>
                    </a:ext>
                  </a:extLst>
                </a:gridCol>
                <a:gridCol w="1651004">
                  <a:extLst>
                    <a:ext uri="{9D8B030D-6E8A-4147-A177-3AD203B41FA5}">
                      <a16:colId xmlns:a16="http://schemas.microsoft.com/office/drawing/2014/main" val="3070498580"/>
                    </a:ext>
                  </a:extLst>
                </a:gridCol>
                <a:gridCol w="2413001">
                  <a:extLst>
                    <a:ext uri="{9D8B030D-6E8A-4147-A177-3AD203B41FA5}">
                      <a16:colId xmlns:a16="http://schemas.microsoft.com/office/drawing/2014/main" val="4187105309"/>
                    </a:ext>
                  </a:extLst>
                </a:gridCol>
              </a:tblGrid>
              <a:tr h="482602">
                <a:tc>
                  <a:txBody>
                    <a:bodyPr/>
                    <a:lstStyle/>
                    <a:p>
                      <a:pPr lvl="0" algn="l"/>
                      <a:r>
                        <a:rPr lang="en-IL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Where the first 1,000 steps go</a:t>
                      </a:r>
                    </a:p>
                  </a:txBody>
                  <a:tcPr anchor="ctr"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Share</a:t>
                      </a:r>
                    </a:p>
                  </a:txBody>
                  <a:tcPr anchor="ctr"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Counterfactual @1000</a:t>
                      </a:r>
                    </a:p>
                  </a:txBody>
                  <a:tcPr anchor="ctr">
                    <a:solidFill>
                      <a:srgbClr val="1B1B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794066"/>
                  </a:ext>
                </a:extLst>
              </a:tr>
              <a:tr h="558798">
                <a:tc>
                  <a:txBody>
                    <a:bodyPr/>
                    <a:lstStyle/>
                    <a:p>
                      <a:pPr lvl="0" algn="l"/>
                      <a:r>
                        <a:rPr lang="en-IL" sz="150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Moving — always at max speed (0.200 / 0.283 wu)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49.3%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9803"/>
                  </a:ext>
                </a:extLst>
              </a:tr>
              <a:tr h="558798">
                <a:tc>
                  <a:txBody>
                    <a:bodyPr/>
                    <a:lstStyle/>
                    <a:p>
                      <a:pPr lvl="0" algn="l"/>
                      <a:r>
                        <a:rPr lang="en-IL" sz="150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A-idle — frozen, carrot sitting on the ball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17.7%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51.4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771684"/>
                  </a:ext>
                </a:extLst>
              </a:tr>
              <a:tr h="558798">
                <a:tc>
                  <a:txBody>
                    <a:bodyPr/>
                    <a:lstStyle/>
                    <a:p>
                      <a:pPr lvl="0" algn="l"/>
                      <a:r>
                        <a:rPr lang="en-IL" sz="150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B-pinned — frozen, carrot far, PID saturated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32.9%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>
                          <a:solidFill>
                            <a:srgbClr val="3B3939"/>
                          </a:solidFill>
                          <a:latin typeface="Segoe UI"/>
                          <a:cs typeface="Segoe UI"/>
                        </a:rPr>
                        <a:t>64.2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342433"/>
                  </a:ext>
                </a:extLst>
              </a:tr>
              <a:tr h="558798">
                <a:tc>
                  <a:txBody>
                    <a:bodyPr/>
                    <a:lstStyle/>
                    <a:p>
                      <a:pPr lvl="0" algn="l"/>
                      <a:r>
                        <a:rPr lang="en-IL" sz="15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Both removed — same plans, model and decode</a:t>
                      </a:r>
                    </a:p>
                  </a:txBody>
                  <a:tcPr anchor="ctr">
                    <a:solidFill>
                      <a:srgbClr val="E0E0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50.7%</a:t>
                      </a:r>
                    </a:p>
                  </a:txBody>
                  <a:tcPr anchor="ctr">
                    <a:solidFill>
                      <a:srgbClr val="E0E0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IL" sz="1500" b="1">
                          <a:solidFill>
                            <a:srgbClr val="1B1B27"/>
                          </a:solidFill>
                          <a:latin typeface="Segoe UI"/>
                          <a:cs typeface="Segoe UI"/>
                        </a:rPr>
                        <a:t>74.2</a:t>
                      </a:r>
                    </a:p>
                  </a:txBody>
                  <a:tcPr anchor="ctr">
                    <a:solidFill>
                      <a:srgbClr val="E0E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87066"/>
                  </a:ext>
                </a:extLst>
              </a:tr>
            </a:tbl>
          </a:graphicData>
        </a:graphic>
      </p:graphicFrame>
      <p:sp>
        <p:nvSpPr>
          <p:cNvPr id="4" name="R">
            <a:extLst>
              <a:ext uri="{FF2B5EF4-FFF2-40B4-BE49-F238E27FC236}">
                <a16:creationId xmlns:a16="http://schemas.microsoft.com/office/drawing/2014/main" id="{4DB00D9B-383C-46A7-8FFE-BB3529BBD906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7B1650AA-C268-4020-935A-182D9CBB8CEF}"/>
              </a:ext>
            </a:extLst>
          </p:cNvPr>
          <p:cNvSpPr txBox="1"/>
          <p:nvPr/>
        </p:nvSpPr>
        <p:spPr>
          <a:xfrm>
            <a:off x="761996" y="1397002"/>
            <a:ext cx="10668003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51% of the first 1,000 control steps move the ball zero world units — there is no “slow”, only stopped or at max speed</a:t>
            </a:r>
          </a:p>
        </p:txBody>
      </p:sp>
      <p:sp>
        <p:nvSpPr>
          <p:cNvPr id="6" name="R">
            <a:extLst>
              <a:ext uri="{FF2B5EF4-FFF2-40B4-BE49-F238E27FC236}">
                <a16:creationId xmlns:a16="http://schemas.microsoft.com/office/drawing/2014/main" id="{850D27A6-0C81-432F-974C-E28780909A10}"/>
              </a:ext>
            </a:extLst>
          </p:cNvPr>
          <p:cNvSpPr/>
          <p:nvPr/>
        </p:nvSpPr>
        <p:spPr>
          <a:xfrm>
            <a:off x="761996" y="4978395"/>
            <a:ext cx="5206995" cy="1219196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1049C6F4-A1B8-46CF-B3F8-198C72A1DBFB}"/>
              </a:ext>
            </a:extLst>
          </p:cNvPr>
          <p:cNvSpPr/>
          <p:nvPr/>
        </p:nvSpPr>
        <p:spPr>
          <a:xfrm>
            <a:off x="761996" y="4978395"/>
            <a:ext cx="76196" cy="1219196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A9FB401A-98F2-41EB-91BF-A4FDE0512DB2}"/>
              </a:ext>
            </a:extLst>
          </p:cNvPr>
          <p:cNvSpPr txBox="1"/>
          <p:nvPr/>
        </p:nvSpPr>
        <p:spPr>
          <a:xfrm>
            <a:off x="1041401" y="5206995"/>
            <a:ext cx="4648196" cy="8128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A is pursuit geometry, not visibility.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57% of idle steps had a visible point within 2 wu of plan arc and idled anyway.</a:t>
            </a: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7933E9C6-830E-4B27-A5CF-E77DCCB65432}"/>
              </a:ext>
            </a:extLst>
          </p:cNvPr>
          <p:cNvSpPr/>
          <p:nvPr/>
        </p:nvSpPr>
        <p:spPr>
          <a:xfrm>
            <a:off x="6223004" y="4978395"/>
            <a:ext cx="5206995" cy="1219196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3898E2EA-CD0A-4860-A90D-4A1C9259904F}"/>
              </a:ext>
            </a:extLst>
          </p:cNvPr>
          <p:cNvSpPr/>
          <p:nvPr/>
        </p:nvSpPr>
        <p:spPr>
          <a:xfrm>
            <a:off x="6223004" y="4978395"/>
            <a:ext cx="76196" cy="1219196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789F128F-1C7A-4B7A-AF13-6BF239F4963D}"/>
              </a:ext>
            </a:extLst>
          </p:cNvPr>
          <p:cNvSpPr txBox="1"/>
          <p:nvPr/>
        </p:nvSpPr>
        <p:spPr>
          <a:xfrm>
            <a:off x="6502398" y="5206995"/>
            <a:ext cx="4648196" cy="8128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A tangent almost always exists.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85% of pinned steps have a free beam ≥1 wu wide still pointing goal-ward.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C7852-4828-4B52-B7E0-E97FE59C0F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New Approch: Frequent Replanning With History Taken Into Account</a:t>
            </a:r>
            <a:endParaRPr lang="en-IL" sz="3200" b="1">
              <a:solidFill>
                <a:srgbClr val="1B1B27"/>
              </a:solidFill>
            </a:endParaRP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BD6F7EF9-A36F-4617-9C7F-540CF5DCF66A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">
            <a:extLst>
              <a:ext uri="{FF2B5EF4-FFF2-40B4-BE49-F238E27FC236}">
                <a16:creationId xmlns:a16="http://schemas.microsoft.com/office/drawing/2014/main" id="{00B2C66C-35BC-4D75-98D3-4B600FE1CFEC}"/>
              </a:ext>
            </a:extLst>
          </p:cNvPr>
          <p:cNvSpPr txBox="1"/>
          <p:nvPr/>
        </p:nvSpPr>
        <p:spPr>
          <a:xfrm>
            <a:off x="761996" y="1397002"/>
            <a:ext cx="10668003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The decoder matches each scan to the grid on its own, so every new plan is decoded without the ball's history</a:t>
            </a: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C0D3539C-4FD2-4D0A-9524-ACED5040EA05}"/>
              </a:ext>
            </a:extLst>
          </p:cNvPr>
          <p:cNvSpPr/>
          <p:nvPr/>
        </p:nvSpPr>
        <p:spPr>
          <a:xfrm>
            <a:off x="761996" y="2031997"/>
            <a:ext cx="10668003" cy="1270001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R">
            <a:extLst>
              <a:ext uri="{FF2B5EF4-FFF2-40B4-BE49-F238E27FC236}">
                <a16:creationId xmlns:a16="http://schemas.microsoft.com/office/drawing/2014/main" id="{4459EA74-E980-4138-A965-9711AA9A47B5}"/>
              </a:ext>
            </a:extLst>
          </p:cNvPr>
          <p:cNvSpPr/>
          <p:nvPr/>
        </p:nvSpPr>
        <p:spPr>
          <a:xfrm>
            <a:off x="761996" y="2031997"/>
            <a:ext cx="76196" cy="1270001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F1417876-2143-449B-A1F1-AF1A696F0740}"/>
              </a:ext>
            </a:extLst>
          </p:cNvPr>
          <p:cNvSpPr txBox="1"/>
          <p:nvPr/>
        </p:nvSpPr>
        <p:spPr>
          <a:xfrm>
            <a:off x="1066803" y="2540002"/>
            <a:ext cx="2667003" cy="3047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HOW THE DECODER WORKS</a:t>
            </a: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99D65F08-8A8B-4631-BBC8-8D8C2DE4CDFB}"/>
              </a:ext>
            </a:extLst>
          </p:cNvPr>
          <p:cNvSpPr txBox="1"/>
          <p:nvPr/>
        </p:nvSpPr>
        <p:spPr>
          <a:xfrm>
            <a:off x="4013201" y="2387598"/>
            <a:ext cx="7112002" cy="761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A memoryless argmin: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for each scan it picks the grid point whose reference scan is most similar, with no link to previous frames.</a:t>
            </a: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1C473971-4796-4370-9DEF-3E810AC901AC}"/>
              </a:ext>
            </a:extLst>
          </p:cNvPr>
          <p:cNvSpPr/>
          <p:nvPr/>
        </p:nvSpPr>
        <p:spPr>
          <a:xfrm>
            <a:off x="761996" y="3505196"/>
            <a:ext cx="10668003" cy="1270001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099E80E0-16B1-48B0-94CC-98938A9CCC84}"/>
              </a:ext>
            </a:extLst>
          </p:cNvPr>
          <p:cNvSpPr/>
          <p:nvPr/>
        </p:nvSpPr>
        <p:spPr>
          <a:xfrm>
            <a:off x="761996" y="3505196"/>
            <a:ext cx="76196" cy="1270001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CB2C6F83-A6C6-466E-AFC2-3CAFDB536C43}"/>
              </a:ext>
            </a:extLst>
          </p:cNvPr>
          <p:cNvSpPr txBox="1"/>
          <p:nvPr/>
        </p:nvSpPr>
        <p:spPr>
          <a:xfrm>
            <a:off x="1066803" y="4013201"/>
            <a:ext cx="2667003" cy="3047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WHAT HAPPENS ON REPLAN</a:t>
            </a: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4A7DAAAA-36BB-4999-8EEE-85F08FC3B3D6}"/>
              </a:ext>
            </a:extLst>
          </p:cNvPr>
          <p:cNvSpPr txBox="1"/>
          <p:nvPr/>
        </p:nvSpPr>
        <p:spPr>
          <a:xfrm>
            <a:off x="4013201" y="3860797"/>
            <a:ext cx="7112002" cy="761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The ball gets teleported.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Each fresh plan is decoded from scratch, with nothing tying it to where the ball has just been.</a:t>
            </a:r>
          </a:p>
        </p:txBody>
      </p:sp>
      <p:sp>
        <p:nvSpPr>
          <p:cNvPr id="13" name="R">
            <a:extLst>
              <a:ext uri="{FF2B5EF4-FFF2-40B4-BE49-F238E27FC236}">
                <a16:creationId xmlns:a16="http://schemas.microsoft.com/office/drawing/2014/main" id="{1140B161-DB9C-4B6A-970F-A7B1B0862C28}"/>
              </a:ext>
            </a:extLst>
          </p:cNvPr>
          <p:cNvSpPr/>
          <p:nvPr/>
        </p:nvSpPr>
        <p:spPr>
          <a:xfrm>
            <a:off x="761996" y="4978395"/>
            <a:ext cx="10668003" cy="1270001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5B91871E-5D3B-465B-BEA6-DDD1D83F3C26}"/>
              </a:ext>
            </a:extLst>
          </p:cNvPr>
          <p:cNvSpPr/>
          <p:nvPr/>
        </p:nvSpPr>
        <p:spPr>
          <a:xfrm>
            <a:off x="761996" y="4978395"/>
            <a:ext cx="76196" cy="1270001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D02EED8D-0F7E-4736-ADCA-BA53A323BC70}"/>
              </a:ext>
            </a:extLst>
          </p:cNvPr>
          <p:cNvSpPr txBox="1"/>
          <p:nvPr/>
        </p:nvSpPr>
        <p:spPr>
          <a:xfrm>
            <a:off x="1066803" y="5486400"/>
            <a:ext cx="2667003" cy="3047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6C6C7E"/>
                </a:solidFill>
                <a:uFillTx/>
                <a:latin typeface="Calibri"/>
              </a:rPr>
              <a:t>OUR ASSESSMENT</a:t>
            </a: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1DB913F3-B4F6-4E5F-A0AD-8D1B0D70A9F1}"/>
              </a:ext>
            </a:extLst>
          </p:cNvPr>
          <p:cNvSpPr txBox="1"/>
          <p:nvPr/>
        </p:nvSpPr>
        <p:spPr>
          <a:xfrm>
            <a:off x="4013201" y="5333996"/>
            <a:ext cx="7112002" cy="761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History is the missing input. </a:t>
            </a: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We tried several workarounds; feeding history in is hard because the decoder we chose cannot use it. We see this as a future direction.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AE263-45C7-45AB-A509-BFDF8075CA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 sz="3200" b="1">
                <a:solidFill>
                  <a:srgbClr val="1B1B27"/>
                </a:solidFill>
              </a:rPr>
              <a:t>Summary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3DB1B05C-9501-4849-937A-62533644C710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E1C0BAB8-34BB-4727-B08E-0033C0E4B0B3}"/>
              </a:ext>
            </a:extLst>
          </p:cNvPr>
          <p:cNvSpPr/>
          <p:nvPr/>
        </p:nvSpPr>
        <p:spPr>
          <a:xfrm>
            <a:off x="761996" y="2427073"/>
            <a:ext cx="3386663" cy="27177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F3D72647-5287-42F7-87EB-930B0C057AF9}"/>
              </a:ext>
            </a:extLst>
          </p:cNvPr>
          <p:cNvSpPr/>
          <p:nvPr/>
        </p:nvSpPr>
        <p:spPr>
          <a:xfrm>
            <a:off x="761996" y="2427073"/>
            <a:ext cx="76196" cy="27177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A43F13A0-8AF8-49DD-A9B8-85429C4DB87B}"/>
              </a:ext>
            </a:extLst>
          </p:cNvPr>
          <p:cNvSpPr txBox="1"/>
          <p:nvPr/>
        </p:nvSpPr>
        <p:spPr>
          <a:xfrm>
            <a:off x="1066803" y="2706477"/>
            <a:ext cx="2777069" cy="254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WHAT WE TRIED</a:t>
            </a: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57EBC7C2-9BA2-4843-9187-D79B47365E08}"/>
              </a:ext>
            </a:extLst>
          </p:cNvPr>
          <p:cNvSpPr txBox="1"/>
          <p:nvPr/>
        </p:nvSpPr>
        <p:spPr>
          <a:xfrm>
            <a:off x="1066803" y="3036676"/>
            <a:ext cx="2777069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Plan in scan space</a:t>
            </a: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173A13D1-9830-4CAE-B974-EA0032768BE7}"/>
              </a:ext>
            </a:extLst>
          </p:cNvPr>
          <p:cNvSpPr txBox="1"/>
          <p:nvPr/>
        </p:nvSpPr>
        <p:spPr>
          <a:xfrm>
            <a:off x="1066803" y="3544680"/>
            <a:ext cx="2777069" cy="18288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We replaced (x,y) with LiDAR scans: a diffusion planner generates a trajectory of scans, and a localizer decodes it back into positions the agent can follow.</a:t>
            </a: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10050392-E1E5-4B72-AF31-126B3AB99EFB}"/>
              </a:ext>
            </a:extLst>
          </p:cNvPr>
          <p:cNvSpPr/>
          <p:nvPr/>
        </p:nvSpPr>
        <p:spPr>
          <a:xfrm>
            <a:off x="4402671" y="2427073"/>
            <a:ext cx="3386663" cy="27177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42CC0A01-316B-4B5E-BC7F-1A9908D4F1B8}"/>
              </a:ext>
            </a:extLst>
          </p:cNvPr>
          <p:cNvSpPr/>
          <p:nvPr/>
        </p:nvSpPr>
        <p:spPr>
          <a:xfrm>
            <a:off x="4402671" y="2427073"/>
            <a:ext cx="76196" cy="27177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777F424C-3EB6-4559-83AB-0623547B45D5}"/>
              </a:ext>
            </a:extLst>
          </p:cNvPr>
          <p:cNvSpPr txBox="1"/>
          <p:nvPr/>
        </p:nvSpPr>
        <p:spPr>
          <a:xfrm>
            <a:off x="4707468" y="2706477"/>
            <a:ext cx="2777069" cy="254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ANT · ANTMAZE GIANT</a:t>
            </a: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337363B8-09C4-48D1-8051-D9217AC51F57}"/>
              </a:ext>
            </a:extLst>
          </p:cNvPr>
          <p:cNvSpPr txBox="1"/>
          <p:nvPr/>
        </p:nvSpPr>
        <p:spPr>
          <a:xfrm>
            <a:off x="4707468" y="3036676"/>
            <a:ext cx="2777069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0% → ≈39–50%</a:t>
            </a: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324F8F6E-9481-4FAD-ADAB-E9C4FB986787}"/>
              </a:ext>
            </a:extLst>
          </p:cNvPr>
          <p:cNvSpPr txBox="1"/>
          <p:nvPr/>
        </p:nvSpPr>
        <p:spPr>
          <a:xfrm>
            <a:off x="4707468" y="3544680"/>
            <a:ext cx="2777069" cy="18288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Restoring joint angles, a 3-D (x, y, θ) pose grid and a goal-cell fix took the ant from 0% to its best result. Goal-scan aliasing set the ceiling.</a:t>
            </a: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17D0DF10-0393-43CB-AC5A-DAF71C3D7B3F}"/>
              </a:ext>
            </a:extLst>
          </p:cNvPr>
          <p:cNvSpPr/>
          <p:nvPr/>
        </p:nvSpPr>
        <p:spPr>
          <a:xfrm>
            <a:off x="8043336" y="2427073"/>
            <a:ext cx="3386663" cy="27177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R">
            <a:extLst>
              <a:ext uri="{FF2B5EF4-FFF2-40B4-BE49-F238E27FC236}">
                <a16:creationId xmlns:a16="http://schemas.microsoft.com/office/drawing/2014/main" id="{92A7ECFF-7FCB-4055-B1BA-EB5AFF234D48}"/>
              </a:ext>
            </a:extLst>
          </p:cNvPr>
          <p:cNvSpPr/>
          <p:nvPr/>
        </p:nvSpPr>
        <p:spPr>
          <a:xfrm>
            <a:off x="8043336" y="2427073"/>
            <a:ext cx="76196" cy="27177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D72F7C4C-A3B8-4444-B586-88AFEE1D5F1D}"/>
              </a:ext>
            </a:extLst>
          </p:cNvPr>
          <p:cNvSpPr txBox="1"/>
          <p:nvPr/>
        </p:nvSpPr>
        <p:spPr>
          <a:xfrm>
            <a:off x="8348133" y="2706477"/>
            <a:ext cx="2777069" cy="254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BALL · POINTMAZE GIANT</a:t>
            </a:r>
          </a:p>
        </p:txBody>
      </p:sp>
      <p:sp>
        <p:nvSpPr>
          <p:cNvPr id="17" name="T">
            <a:extLst>
              <a:ext uri="{FF2B5EF4-FFF2-40B4-BE49-F238E27FC236}">
                <a16:creationId xmlns:a16="http://schemas.microsoft.com/office/drawing/2014/main" id="{E1AFF818-34EA-44E2-9C8D-36F4228600D4}"/>
              </a:ext>
            </a:extLst>
          </p:cNvPr>
          <p:cNvSpPr txBox="1"/>
          <p:nvPr/>
        </p:nvSpPr>
        <p:spPr>
          <a:xfrm>
            <a:off x="8348133" y="3036676"/>
            <a:ext cx="2777069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45.2% @1000 steps</a:t>
            </a:r>
          </a:p>
        </p:txBody>
      </p:sp>
      <p:sp>
        <p:nvSpPr>
          <p:cNvPr id="18" name="T">
            <a:extLst>
              <a:ext uri="{FF2B5EF4-FFF2-40B4-BE49-F238E27FC236}">
                <a16:creationId xmlns:a16="http://schemas.microsoft.com/office/drawing/2014/main" id="{1AA1FC6B-1A7A-4F60-AF47-722960E24EA5}"/>
              </a:ext>
            </a:extLst>
          </p:cNvPr>
          <p:cNvSpPr txBox="1"/>
          <p:nvPr/>
        </p:nvSpPr>
        <p:spPr>
          <a:xfrm>
            <a:off x="8348133" y="3544680"/>
            <a:ext cx="2777069" cy="18288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The Viterbi decode lifted success from 19.0% to 45.2% (77.6% @2500), against 68% for CompDiffuser with (x,y) input.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DE84-0A7A-4DA1-A897-277C1A2B61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6" y="508004"/>
            <a:ext cx="10668003" cy="584201"/>
          </a:xfrm>
        </p:spPr>
        <p:txBody>
          <a:bodyPr/>
          <a:lstStyle/>
          <a:p>
            <a:pPr lvl="0"/>
            <a:r>
              <a:rPr lang="en-US"/>
              <a:t>Additional Things We Can Try</a:t>
            </a: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20BB29B4-1F70-4C84-8492-1D8E36659316}"/>
              </a:ext>
            </a:extLst>
          </p:cNvPr>
          <p:cNvSpPr/>
          <p:nvPr/>
        </p:nvSpPr>
        <p:spPr>
          <a:xfrm>
            <a:off x="761996" y="1270001"/>
            <a:ext cx="10668003" cy="12701"/>
          </a:xfrm>
          <a:prstGeom prst="rect">
            <a:avLst/>
          </a:prstGeom>
          <a:solidFill>
            <a:srgbClr val="C6C6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A4145742-D8C8-4290-9802-DC167A5A7D9E}"/>
              </a:ext>
            </a:extLst>
          </p:cNvPr>
          <p:cNvSpPr/>
          <p:nvPr/>
        </p:nvSpPr>
        <p:spPr>
          <a:xfrm>
            <a:off x="761996" y="1854202"/>
            <a:ext cx="5206995" cy="2031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F636AC32-CE15-4D59-B1E5-87257064CB44}"/>
              </a:ext>
            </a:extLst>
          </p:cNvPr>
          <p:cNvSpPr/>
          <p:nvPr/>
        </p:nvSpPr>
        <p:spPr>
          <a:xfrm>
            <a:off x="761996" y="1854202"/>
            <a:ext cx="76196" cy="2031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9B19457E-633F-4A4F-847D-682A3B2E8954}"/>
              </a:ext>
            </a:extLst>
          </p:cNvPr>
          <p:cNvSpPr txBox="1"/>
          <p:nvPr/>
        </p:nvSpPr>
        <p:spPr>
          <a:xfrm>
            <a:off x="1041401" y="2082802"/>
            <a:ext cx="4648196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1 · CHEAPEST</a:t>
            </a: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8B1111E3-E37B-4A71-A456-50632487D16D}"/>
              </a:ext>
            </a:extLst>
          </p:cNvPr>
          <p:cNvSpPr txBox="1"/>
          <p:nvPr/>
        </p:nvSpPr>
        <p:spPr>
          <a:xfrm>
            <a:off x="1041401" y="2387598"/>
            <a:ext cx="4648196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Finish the frozen-time arms</a:t>
            </a:r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0E31CCB5-C4CE-4835-8BEE-A123BB4F9BF2}"/>
              </a:ext>
            </a:extLst>
          </p:cNvPr>
          <p:cNvSpPr txBox="1"/>
          <p:nvPr/>
        </p:nvSpPr>
        <p:spPr>
          <a:xfrm>
            <a:off x="1041401" y="2794004"/>
            <a:ext cx="4648196" cy="888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Arms 2 and 3 are shipped but unrun. Screen one seed per arm, read the mechanism gate before the score, then 5 seeds on any winner. Ceiling +19.0 pts.</a:t>
            </a:r>
          </a:p>
        </p:txBody>
      </p:sp>
      <p:sp>
        <p:nvSpPr>
          <p:cNvPr id="9" name="R">
            <a:extLst>
              <a:ext uri="{FF2B5EF4-FFF2-40B4-BE49-F238E27FC236}">
                <a16:creationId xmlns:a16="http://schemas.microsoft.com/office/drawing/2014/main" id="{3074ED3D-D9E3-44C5-8292-D4E4C0238E38}"/>
              </a:ext>
            </a:extLst>
          </p:cNvPr>
          <p:cNvSpPr/>
          <p:nvPr/>
        </p:nvSpPr>
        <p:spPr>
          <a:xfrm>
            <a:off x="6223004" y="1854202"/>
            <a:ext cx="5206995" cy="2031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R">
            <a:extLst>
              <a:ext uri="{FF2B5EF4-FFF2-40B4-BE49-F238E27FC236}">
                <a16:creationId xmlns:a16="http://schemas.microsoft.com/office/drawing/2014/main" id="{CB369F2B-77E8-4020-80FF-A4E8A8183655}"/>
              </a:ext>
            </a:extLst>
          </p:cNvPr>
          <p:cNvSpPr/>
          <p:nvPr/>
        </p:nvSpPr>
        <p:spPr>
          <a:xfrm>
            <a:off x="6223004" y="1854202"/>
            <a:ext cx="76196" cy="2031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2E825D65-9D23-4FB6-BFA2-86F9C1BE02ED}"/>
              </a:ext>
            </a:extLst>
          </p:cNvPr>
          <p:cNvSpPr txBox="1"/>
          <p:nvPr/>
        </p:nvSpPr>
        <p:spPr>
          <a:xfrm>
            <a:off x="6502398" y="2082802"/>
            <a:ext cx="4648196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2 · STRUCTURAL</a:t>
            </a: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D94B1947-71DD-403E-9264-039489C72796}"/>
              </a:ext>
            </a:extLst>
          </p:cNvPr>
          <p:cNvSpPr txBox="1"/>
          <p:nvPr/>
        </p:nvSpPr>
        <p:spPr>
          <a:xfrm>
            <a:off x="6502398" y="2387598"/>
            <a:ext cx="4648196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Rewrite the pursuit fixed point</a:t>
            </a: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134CE1B9-46A5-42BF-AE25-DE49353F7A5B}"/>
              </a:ext>
            </a:extLst>
          </p:cNvPr>
          <p:cNvSpPr txBox="1"/>
          <p:nvPr/>
        </p:nvSpPr>
        <p:spPr>
          <a:xfrm>
            <a:off x="6502398" y="2794004"/>
            <a:ext cx="4648196" cy="888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The cursor only advances when the ball moves. Advance on plan index against elapsed time, or project the ball onto the plan polyline. ~40 lines plus one screening job.</a:t>
            </a: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ABC5F863-88A8-47DA-8A52-254646155E42}"/>
              </a:ext>
            </a:extLst>
          </p:cNvPr>
          <p:cNvSpPr/>
          <p:nvPr/>
        </p:nvSpPr>
        <p:spPr>
          <a:xfrm>
            <a:off x="761996" y="4089397"/>
            <a:ext cx="5206995" cy="2031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R">
            <a:extLst>
              <a:ext uri="{FF2B5EF4-FFF2-40B4-BE49-F238E27FC236}">
                <a16:creationId xmlns:a16="http://schemas.microsoft.com/office/drawing/2014/main" id="{48C2E43F-6961-41DE-BDF6-0B6C00D29517}"/>
              </a:ext>
            </a:extLst>
          </p:cNvPr>
          <p:cNvSpPr/>
          <p:nvPr/>
        </p:nvSpPr>
        <p:spPr>
          <a:xfrm>
            <a:off x="761996" y="4089397"/>
            <a:ext cx="76196" cy="2031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7A6FD284-827E-4531-A582-8DCC5B7F8873}"/>
              </a:ext>
            </a:extLst>
          </p:cNvPr>
          <p:cNvSpPr txBox="1"/>
          <p:nvPr/>
        </p:nvSpPr>
        <p:spPr>
          <a:xfrm>
            <a:off x="1041401" y="4317997"/>
            <a:ext cx="4648196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3 · OWED</a:t>
            </a:r>
          </a:p>
        </p:txBody>
      </p:sp>
      <p:sp>
        <p:nvSpPr>
          <p:cNvPr id="17" name="T">
            <a:extLst>
              <a:ext uri="{FF2B5EF4-FFF2-40B4-BE49-F238E27FC236}">
                <a16:creationId xmlns:a16="http://schemas.microsoft.com/office/drawing/2014/main" id="{77A7A6C3-C10C-457F-99BD-6AA73A757DD5}"/>
              </a:ext>
            </a:extLst>
          </p:cNvPr>
          <p:cNvSpPr txBox="1"/>
          <p:nvPr/>
        </p:nvSpPr>
        <p:spPr>
          <a:xfrm>
            <a:off x="1041401" y="4622804"/>
            <a:ext cx="4648196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Re-run the offline suite</a:t>
            </a:r>
          </a:p>
        </p:txBody>
      </p:sp>
      <p:sp>
        <p:nvSpPr>
          <p:cNvPr id="18" name="T">
            <a:extLst>
              <a:ext uri="{FF2B5EF4-FFF2-40B4-BE49-F238E27FC236}">
                <a16:creationId xmlns:a16="http://schemas.microsoft.com/office/drawing/2014/main" id="{BEDB09B7-31B9-4DBC-BA6D-0D1B79542588}"/>
              </a:ext>
            </a:extLst>
          </p:cNvPr>
          <p:cNvSpPr txBox="1"/>
          <p:nvPr/>
        </p:nvSpPr>
        <p:spPr>
          <a:xfrm>
            <a:off x="1041401" y="5029200"/>
            <a:ext cx="4648196" cy="888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Every G2a/G2b number was computed with the decode we later proved was emitting teleports. CPU-only, existing dumps — tells us whether “the planner is incoherent” is still true.</a:t>
            </a:r>
          </a:p>
        </p:txBody>
      </p:sp>
      <p:sp>
        <p:nvSpPr>
          <p:cNvPr id="19" name="R">
            <a:extLst>
              <a:ext uri="{FF2B5EF4-FFF2-40B4-BE49-F238E27FC236}">
                <a16:creationId xmlns:a16="http://schemas.microsoft.com/office/drawing/2014/main" id="{BBA43132-82CB-4129-A704-62874ABD44F5}"/>
              </a:ext>
            </a:extLst>
          </p:cNvPr>
          <p:cNvSpPr/>
          <p:nvPr/>
        </p:nvSpPr>
        <p:spPr>
          <a:xfrm>
            <a:off x="6223004" y="4089397"/>
            <a:ext cx="5206995" cy="203199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C6C6D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R">
            <a:extLst>
              <a:ext uri="{FF2B5EF4-FFF2-40B4-BE49-F238E27FC236}">
                <a16:creationId xmlns:a16="http://schemas.microsoft.com/office/drawing/2014/main" id="{6EB2F75B-C240-42BA-8A5B-CCECB143AAA7}"/>
              </a:ext>
            </a:extLst>
          </p:cNvPr>
          <p:cNvSpPr/>
          <p:nvPr/>
        </p:nvSpPr>
        <p:spPr>
          <a:xfrm>
            <a:off x="6223004" y="4089397"/>
            <a:ext cx="76196" cy="2031997"/>
          </a:xfrm>
          <a:prstGeom prst="rect">
            <a:avLst/>
          </a:prstGeom>
          <a:solidFill>
            <a:srgbClr val="1B1B2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">
            <a:extLst>
              <a:ext uri="{FF2B5EF4-FFF2-40B4-BE49-F238E27FC236}">
                <a16:creationId xmlns:a16="http://schemas.microsoft.com/office/drawing/2014/main" id="{814AC5FA-F727-4FEC-B603-5B142FEF01BE}"/>
              </a:ext>
            </a:extLst>
          </p:cNvPr>
          <p:cNvSpPr txBox="1"/>
          <p:nvPr/>
        </p:nvSpPr>
        <p:spPr>
          <a:xfrm>
            <a:off x="6502398" y="4317997"/>
            <a:ext cx="4648196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200" baseline="0">
                <a:solidFill>
                  <a:srgbClr val="6C6C7E"/>
                </a:solidFill>
                <a:uFillTx/>
                <a:latin typeface="Calibri"/>
              </a:rPr>
              <a:t>4 · THE SCIENCE</a:t>
            </a:r>
          </a:p>
        </p:txBody>
      </p:sp>
      <p:sp>
        <p:nvSpPr>
          <p:cNvPr id="22" name="T">
            <a:extLst>
              <a:ext uri="{FF2B5EF4-FFF2-40B4-BE49-F238E27FC236}">
                <a16:creationId xmlns:a16="http://schemas.microsoft.com/office/drawing/2014/main" id="{68CF54B8-2E67-4C61-85CA-60DBBF6EBDFF}"/>
              </a:ext>
            </a:extLst>
          </p:cNvPr>
          <p:cNvSpPr txBox="1"/>
          <p:nvPr/>
        </p:nvSpPr>
        <p:spPr>
          <a:xfrm>
            <a:off x="6502398" y="4622804"/>
            <a:ext cx="4648196" cy="3301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B1B27"/>
                </a:solidFill>
                <a:uFillTx/>
                <a:latin typeface="Calibri"/>
              </a:rPr>
              <a:t>Attack the planner residual</a:t>
            </a:r>
          </a:p>
        </p:txBody>
      </p:sp>
      <p:sp>
        <p:nvSpPr>
          <p:cNvPr id="23" name="T">
            <a:extLst>
              <a:ext uri="{FF2B5EF4-FFF2-40B4-BE49-F238E27FC236}">
                <a16:creationId xmlns:a16="http://schemas.microsoft.com/office/drawing/2014/main" id="{9EF35F98-C8B0-4AEA-8B20-2B5830A7C271}"/>
              </a:ext>
            </a:extLst>
          </p:cNvPr>
          <p:cNvSpPr txBox="1"/>
          <p:nvPr/>
        </p:nvSpPr>
        <p:spPr>
          <a:xfrm>
            <a:off x="6502398" y="5029200"/>
            <a:ext cx="4648196" cy="888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3B3939"/>
                </a:solidFill>
                <a:uFillTx/>
                <a:latin typeface="Calibri"/>
              </a:rPr>
              <a:t>Blocks 0 and 1 hold plans that genuinely go elsewhere; no timing fix touches them. Replan cadence first, then the one sensing lever still live for block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87820351653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</TotalTime>
  <Words>2325</Words>
  <Application>Microsoft Office PowerPoint</Application>
  <PresentationFormat>Widescreen</PresentationFormat>
  <Paragraphs>241</Paragraphs>
  <Slides>25</Slides>
  <Notes>0</Notes>
  <HiddenSlides>0</HiddenSlides>
  <MMClips>2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Segoe UI</vt:lpstr>
      <vt:lpstr>Office Theme</vt:lpstr>
      <vt:lpstr>Office Theme [1787820351653]</vt:lpstr>
      <vt:lpstr>Maze Navigation Using LiDAR Scans</vt:lpstr>
      <vt:lpstr>The Task and the Approach</vt:lpstr>
      <vt:lpstr>Technical Architecture</vt:lpstr>
      <vt:lpstr>Project Timeline</vt:lpstr>
      <vt:lpstr>The First Result After the LiDAR Port: 0%</vt:lpstr>
      <vt:lpstr>First Problem: The Ant Would Not Move</vt:lpstr>
      <vt:lpstr>The Central Problem: Goal Ambiguity</vt:lpstr>
      <vt:lpstr>Goal Ambiguity Visualization</vt:lpstr>
      <vt:lpstr>Attempted Fix: Multi-Scan Goal</vt:lpstr>
      <vt:lpstr>First Success!</vt:lpstr>
      <vt:lpstr>Lifting The Success Rate</vt:lpstr>
      <vt:lpstr>Candidate List After Fixed goal-cell Localization</vt:lpstr>
      <vt:lpstr>Ant Aftermath</vt:lpstr>
      <vt:lpstr>Example of a few runs</vt:lpstr>
      <vt:lpstr>Aliasing Map</vt:lpstr>
      <vt:lpstr>The Ball</vt:lpstr>
      <vt:lpstr>Why We Moved to the Ball</vt:lpstr>
      <vt:lpstr>The Pipeline</vt:lpstr>
      <vt:lpstr>The Viterbi Decode: Most Impactful Improvement</vt:lpstr>
      <vt:lpstr>Where We Stand</vt:lpstr>
      <vt:lpstr>The Eval Ladder Is Flat</vt:lpstr>
      <vt:lpstr>Half the Budget Produces No Motion</vt:lpstr>
      <vt:lpstr>New Approch: Frequent Replanning With History Taken Into Account</vt:lpstr>
      <vt:lpstr>Summary</vt:lpstr>
      <vt:lpstr>Additional Things We Can Try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cloudconvert_9</cp:lastModifiedBy>
  <cp:revision>21</cp:revision>
  <dcterms:created xsi:type="dcterms:W3CDTF">2018-06-07T21:39:02Z</dcterms:created>
  <dcterms:modified xsi:type="dcterms:W3CDTF">2026-10-29T16:01:07Z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